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6" d="100"/>
          <a:sy n="66" d="100"/>
        </p:scale>
        <p:origin x="1330" y="3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8F457-D384-4666-679F-D8AF2BC450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11AC9B9-45BE-1530-569C-8347C2822F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5617A63-35E7-928F-AB9E-A2882085CB55}"/>
              </a:ext>
            </a:extLst>
          </p:cNvPr>
          <p:cNvSpPr>
            <a:spLocks noGrp="1"/>
          </p:cNvSpPr>
          <p:nvPr>
            <p:ph type="dt" sz="half" idx="10"/>
          </p:nvPr>
        </p:nvSpPr>
        <p:spPr/>
        <p:txBody>
          <a:bodyPr/>
          <a:lstStyle/>
          <a:p>
            <a:fld id="{05FDF43B-360B-43C1-B85E-2457031A549B}" type="datetimeFigureOut">
              <a:rPr lang="en-IN" smtClean="0"/>
              <a:t>09-08-2026</a:t>
            </a:fld>
            <a:endParaRPr lang="en-IN"/>
          </a:p>
        </p:txBody>
      </p:sp>
      <p:sp>
        <p:nvSpPr>
          <p:cNvPr id="5" name="Footer Placeholder 4">
            <a:extLst>
              <a:ext uri="{FF2B5EF4-FFF2-40B4-BE49-F238E27FC236}">
                <a16:creationId xmlns:a16="http://schemas.microsoft.com/office/drawing/2014/main" id="{CCFEE4B2-0CA2-58CC-0D01-5F7FA8CB7A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F837CA-0948-85E5-C83E-3FFCCAA790D5}"/>
              </a:ext>
            </a:extLst>
          </p:cNvPr>
          <p:cNvSpPr>
            <a:spLocks noGrp="1"/>
          </p:cNvSpPr>
          <p:nvPr>
            <p:ph type="sldNum" sz="quarter" idx="12"/>
          </p:nvPr>
        </p:nvSpPr>
        <p:spPr/>
        <p:txBody>
          <a:bodyPr/>
          <a:lstStyle/>
          <a:p>
            <a:fld id="{0C136CF2-39E6-4C62-B9BC-0C8B8448F4EF}" type="slidenum">
              <a:rPr lang="en-IN" smtClean="0"/>
              <a:t>‹#›</a:t>
            </a:fld>
            <a:endParaRPr lang="en-IN"/>
          </a:p>
        </p:txBody>
      </p:sp>
    </p:spTree>
    <p:extLst>
      <p:ext uri="{BB962C8B-B14F-4D97-AF65-F5344CB8AC3E}">
        <p14:creationId xmlns:p14="http://schemas.microsoft.com/office/powerpoint/2010/main" val="16355954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F94B5-DFEB-1556-8FE0-17E188153A3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C752912-2853-3F1D-945D-2B5E1E336F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F95163-486F-0E31-43F0-FF30B69B5681}"/>
              </a:ext>
            </a:extLst>
          </p:cNvPr>
          <p:cNvSpPr>
            <a:spLocks noGrp="1"/>
          </p:cNvSpPr>
          <p:nvPr>
            <p:ph type="dt" sz="half" idx="10"/>
          </p:nvPr>
        </p:nvSpPr>
        <p:spPr/>
        <p:txBody>
          <a:bodyPr/>
          <a:lstStyle/>
          <a:p>
            <a:fld id="{05FDF43B-360B-43C1-B85E-2457031A549B}" type="datetimeFigureOut">
              <a:rPr lang="en-IN" smtClean="0"/>
              <a:t>09-08-2026</a:t>
            </a:fld>
            <a:endParaRPr lang="en-IN"/>
          </a:p>
        </p:txBody>
      </p:sp>
      <p:sp>
        <p:nvSpPr>
          <p:cNvPr id="5" name="Footer Placeholder 4">
            <a:extLst>
              <a:ext uri="{FF2B5EF4-FFF2-40B4-BE49-F238E27FC236}">
                <a16:creationId xmlns:a16="http://schemas.microsoft.com/office/drawing/2014/main" id="{02D7670E-5B9F-BCEB-2D15-BFC7D59EE4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8E5E44-B8A9-9ECC-7163-D1A3176F708B}"/>
              </a:ext>
            </a:extLst>
          </p:cNvPr>
          <p:cNvSpPr>
            <a:spLocks noGrp="1"/>
          </p:cNvSpPr>
          <p:nvPr>
            <p:ph type="sldNum" sz="quarter" idx="12"/>
          </p:nvPr>
        </p:nvSpPr>
        <p:spPr/>
        <p:txBody>
          <a:bodyPr/>
          <a:lstStyle/>
          <a:p>
            <a:fld id="{0C136CF2-39E6-4C62-B9BC-0C8B8448F4EF}" type="slidenum">
              <a:rPr lang="en-IN" smtClean="0"/>
              <a:t>‹#›</a:t>
            </a:fld>
            <a:endParaRPr lang="en-IN"/>
          </a:p>
        </p:txBody>
      </p:sp>
    </p:spTree>
    <p:extLst>
      <p:ext uri="{BB962C8B-B14F-4D97-AF65-F5344CB8AC3E}">
        <p14:creationId xmlns:p14="http://schemas.microsoft.com/office/powerpoint/2010/main" val="416540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EFE8B-C819-D164-4091-6056B261258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125C3DF-5C46-F656-D686-A1A667E970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300960C-04A1-4CBB-CDE0-406EDB7FF74D}"/>
              </a:ext>
            </a:extLst>
          </p:cNvPr>
          <p:cNvSpPr>
            <a:spLocks noGrp="1"/>
          </p:cNvSpPr>
          <p:nvPr>
            <p:ph type="dt" sz="half" idx="10"/>
          </p:nvPr>
        </p:nvSpPr>
        <p:spPr/>
        <p:txBody>
          <a:bodyPr/>
          <a:lstStyle/>
          <a:p>
            <a:fld id="{05FDF43B-360B-43C1-B85E-2457031A549B}" type="datetimeFigureOut">
              <a:rPr lang="en-IN" smtClean="0"/>
              <a:t>09-08-2026</a:t>
            </a:fld>
            <a:endParaRPr lang="en-IN"/>
          </a:p>
        </p:txBody>
      </p:sp>
      <p:sp>
        <p:nvSpPr>
          <p:cNvPr id="5" name="Footer Placeholder 4">
            <a:extLst>
              <a:ext uri="{FF2B5EF4-FFF2-40B4-BE49-F238E27FC236}">
                <a16:creationId xmlns:a16="http://schemas.microsoft.com/office/drawing/2014/main" id="{FFBE55FE-34F7-CBF2-F992-0B8F55A36C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3D2326-9E2A-C8D9-BEC3-DBD7F5EF704D}"/>
              </a:ext>
            </a:extLst>
          </p:cNvPr>
          <p:cNvSpPr>
            <a:spLocks noGrp="1"/>
          </p:cNvSpPr>
          <p:nvPr>
            <p:ph type="sldNum" sz="quarter" idx="12"/>
          </p:nvPr>
        </p:nvSpPr>
        <p:spPr/>
        <p:txBody>
          <a:bodyPr/>
          <a:lstStyle/>
          <a:p>
            <a:fld id="{0C136CF2-39E6-4C62-B9BC-0C8B8448F4EF}" type="slidenum">
              <a:rPr lang="en-IN" smtClean="0"/>
              <a:t>‹#›</a:t>
            </a:fld>
            <a:endParaRPr lang="en-IN"/>
          </a:p>
        </p:txBody>
      </p:sp>
    </p:spTree>
    <p:extLst>
      <p:ext uri="{BB962C8B-B14F-4D97-AF65-F5344CB8AC3E}">
        <p14:creationId xmlns:p14="http://schemas.microsoft.com/office/powerpoint/2010/main" val="2291631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D5C3D-D1FE-A734-E4DB-44FB02D9C0F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D62697F-E33E-27A1-246F-4FB3129591E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935FF18-6863-6DEC-AC16-B965D9A5147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4C34182-6067-5DB5-FA2A-3B45853CE353}"/>
              </a:ext>
            </a:extLst>
          </p:cNvPr>
          <p:cNvSpPr>
            <a:spLocks noGrp="1"/>
          </p:cNvSpPr>
          <p:nvPr>
            <p:ph type="dt" sz="half" idx="10"/>
          </p:nvPr>
        </p:nvSpPr>
        <p:spPr/>
        <p:txBody>
          <a:bodyPr/>
          <a:lstStyle/>
          <a:p>
            <a:fld id="{05FDF43B-360B-43C1-B85E-2457031A549B}" type="datetimeFigureOut">
              <a:rPr lang="en-IN" smtClean="0"/>
              <a:t>09-08-2026</a:t>
            </a:fld>
            <a:endParaRPr lang="en-IN"/>
          </a:p>
        </p:txBody>
      </p:sp>
      <p:sp>
        <p:nvSpPr>
          <p:cNvPr id="6" name="Footer Placeholder 5">
            <a:extLst>
              <a:ext uri="{FF2B5EF4-FFF2-40B4-BE49-F238E27FC236}">
                <a16:creationId xmlns:a16="http://schemas.microsoft.com/office/drawing/2014/main" id="{C9225963-59CC-5DCD-CEFE-E2BAF4DC0B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2D3DE99-C6B9-13B0-4193-8E05FE41E363}"/>
              </a:ext>
            </a:extLst>
          </p:cNvPr>
          <p:cNvSpPr>
            <a:spLocks noGrp="1"/>
          </p:cNvSpPr>
          <p:nvPr>
            <p:ph type="sldNum" sz="quarter" idx="12"/>
          </p:nvPr>
        </p:nvSpPr>
        <p:spPr/>
        <p:txBody>
          <a:bodyPr/>
          <a:lstStyle/>
          <a:p>
            <a:fld id="{0C136CF2-39E6-4C62-B9BC-0C8B8448F4EF}" type="slidenum">
              <a:rPr lang="en-IN" smtClean="0"/>
              <a:t>‹#›</a:t>
            </a:fld>
            <a:endParaRPr lang="en-IN"/>
          </a:p>
        </p:txBody>
      </p:sp>
    </p:spTree>
    <p:extLst>
      <p:ext uri="{BB962C8B-B14F-4D97-AF65-F5344CB8AC3E}">
        <p14:creationId xmlns:p14="http://schemas.microsoft.com/office/powerpoint/2010/main" val="174372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ECBF6-B5EF-B0B0-D935-7344C17EC22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A34C6E0-4FDA-2401-B522-EB5A3F1B92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25B018-9F50-8812-C60B-B82458F422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22B823C-8617-1A23-A3EA-3EF992F9F7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FB9CD5-6A06-A871-CB2E-F197292B87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8500C51-57DE-AC99-D3BB-3CCC8698CF9A}"/>
              </a:ext>
            </a:extLst>
          </p:cNvPr>
          <p:cNvSpPr>
            <a:spLocks noGrp="1"/>
          </p:cNvSpPr>
          <p:nvPr>
            <p:ph type="dt" sz="half" idx="10"/>
          </p:nvPr>
        </p:nvSpPr>
        <p:spPr/>
        <p:txBody>
          <a:bodyPr/>
          <a:lstStyle/>
          <a:p>
            <a:fld id="{05FDF43B-360B-43C1-B85E-2457031A549B}" type="datetimeFigureOut">
              <a:rPr lang="en-IN" smtClean="0"/>
              <a:t>09-08-2026</a:t>
            </a:fld>
            <a:endParaRPr lang="en-IN"/>
          </a:p>
        </p:txBody>
      </p:sp>
      <p:sp>
        <p:nvSpPr>
          <p:cNvPr id="8" name="Footer Placeholder 7">
            <a:extLst>
              <a:ext uri="{FF2B5EF4-FFF2-40B4-BE49-F238E27FC236}">
                <a16:creationId xmlns:a16="http://schemas.microsoft.com/office/drawing/2014/main" id="{5035C9C9-39FE-DCDD-22FE-20C87E30EFD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1FA1725-D524-D099-D5C2-5F8343CA0A80}"/>
              </a:ext>
            </a:extLst>
          </p:cNvPr>
          <p:cNvSpPr>
            <a:spLocks noGrp="1"/>
          </p:cNvSpPr>
          <p:nvPr>
            <p:ph type="sldNum" sz="quarter" idx="12"/>
          </p:nvPr>
        </p:nvSpPr>
        <p:spPr/>
        <p:txBody>
          <a:bodyPr/>
          <a:lstStyle/>
          <a:p>
            <a:fld id="{0C136CF2-39E6-4C62-B9BC-0C8B8448F4EF}" type="slidenum">
              <a:rPr lang="en-IN" smtClean="0"/>
              <a:t>‹#›</a:t>
            </a:fld>
            <a:endParaRPr lang="en-IN"/>
          </a:p>
        </p:txBody>
      </p:sp>
    </p:spTree>
    <p:extLst>
      <p:ext uri="{BB962C8B-B14F-4D97-AF65-F5344CB8AC3E}">
        <p14:creationId xmlns:p14="http://schemas.microsoft.com/office/powerpoint/2010/main" val="1573732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383F9-4D4B-108E-C79A-1280D9C97A5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C351F92-0BD3-3ECF-1616-9DCC3C61C423}"/>
              </a:ext>
            </a:extLst>
          </p:cNvPr>
          <p:cNvSpPr>
            <a:spLocks noGrp="1"/>
          </p:cNvSpPr>
          <p:nvPr>
            <p:ph type="dt" sz="half" idx="10"/>
          </p:nvPr>
        </p:nvSpPr>
        <p:spPr/>
        <p:txBody>
          <a:bodyPr/>
          <a:lstStyle/>
          <a:p>
            <a:fld id="{05FDF43B-360B-43C1-B85E-2457031A549B}" type="datetimeFigureOut">
              <a:rPr lang="en-IN" smtClean="0"/>
              <a:t>09-08-2026</a:t>
            </a:fld>
            <a:endParaRPr lang="en-IN"/>
          </a:p>
        </p:txBody>
      </p:sp>
      <p:sp>
        <p:nvSpPr>
          <p:cNvPr id="4" name="Footer Placeholder 3">
            <a:extLst>
              <a:ext uri="{FF2B5EF4-FFF2-40B4-BE49-F238E27FC236}">
                <a16:creationId xmlns:a16="http://schemas.microsoft.com/office/drawing/2014/main" id="{70CEE58D-EB8B-F339-9182-61565CF503C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5143D72-84CA-8C1D-AAE0-51CC0A8E5F0D}"/>
              </a:ext>
            </a:extLst>
          </p:cNvPr>
          <p:cNvSpPr>
            <a:spLocks noGrp="1"/>
          </p:cNvSpPr>
          <p:nvPr>
            <p:ph type="sldNum" sz="quarter" idx="12"/>
          </p:nvPr>
        </p:nvSpPr>
        <p:spPr/>
        <p:txBody>
          <a:bodyPr/>
          <a:lstStyle/>
          <a:p>
            <a:fld id="{0C136CF2-39E6-4C62-B9BC-0C8B8448F4EF}" type="slidenum">
              <a:rPr lang="en-IN" smtClean="0"/>
              <a:t>‹#›</a:t>
            </a:fld>
            <a:endParaRPr lang="en-IN"/>
          </a:p>
        </p:txBody>
      </p:sp>
    </p:spTree>
    <p:extLst>
      <p:ext uri="{BB962C8B-B14F-4D97-AF65-F5344CB8AC3E}">
        <p14:creationId xmlns:p14="http://schemas.microsoft.com/office/powerpoint/2010/main" val="32457742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F94321-F83D-05EA-C4AE-FCF6C3EABBA6}"/>
              </a:ext>
            </a:extLst>
          </p:cNvPr>
          <p:cNvSpPr>
            <a:spLocks noGrp="1"/>
          </p:cNvSpPr>
          <p:nvPr>
            <p:ph type="dt" sz="half" idx="10"/>
          </p:nvPr>
        </p:nvSpPr>
        <p:spPr/>
        <p:txBody>
          <a:bodyPr/>
          <a:lstStyle/>
          <a:p>
            <a:fld id="{05FDF43B-360B-43C1-B85E-2457031A549B}" type="datetimeFigureOut">
              <a:rPr lang="en-IN" smtClean="0"/>
              <a:t>09-08-2026</a:t>
            </a:fld>
            <a:endParaRPr lang="en-IN"/>
          </a:p>
        </p:txBody>
      </p:sp>
      <p:sp>
        <p:nvSpPr>
          <p:cNvPr id="3" name="Footer Placeholder 2">
            <a:extLst>
              <a:ext uri="{FF2B5EF4-FFF2-40B4-BE49-F238E27FC236}">
                <a16:creationId xmlns:a16="http://schemas.microsoft.com/office/drawing/2014/main" id="{AB1254B3-6412-38A4-3AD2-AD27B8471B5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8A8865A-A76D-D538-D9AE-AC9F863F64DA}"/>
              </a:ext>
            </a:extLst>
          </p:cNvPr>
          <p:cNvSpPr>
            <a:spLocks noGrp="1"/>
          </p:cNvSpPr>
          <p:nvPr>
            <p:ph type="sldNum" sz="quarter" idx="12"/>
          </p:nvPr>
        </p:nvSpPr>
        <p:spPr/>
        <p:txBody>
          <a:bodyPr/>
          <a:lstStyle/>
          <a:p>
            <a:fld id="{0C136CF2-39E6-4C62-B9BC-0C8B8448F4EF}" type="slidenum">
              <a:rPr lang="en-IN" smtClean="0"/>
              <a:t>‹#›</a:t>
            </a:fld>
            <a:endParaRPr lang="en-IN"/>
          </a:p>
        </p:txBody>
      </p:sp>
    </p:spTree>
    <p:extLst>
      <p:ext uri="{BB962C8B-B14F-4D97-AF65-F5344CB8AC3E}">
        <p14:creationId xmlns:p14="http://schemas.microsoft.com/office/powerpoint/2010/main" val="4746502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622B6-44BE-02B6-E305-9D02B28A52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4AF68-A3E6-AB1B-FC83-601A6DF933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6C27B6C-EF28-9A8A-9AAE-2633B4B8C2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C9AE62-D29D-D0C4-D4DA-B10BF04D0F07}"/>
              </a:ext>
            </a:extLst>
          </p:cNvPr>
          <p:cNvSpPr>
            <a:spLocks noGrp="1"/>
          </p:cNvSpPr>
          <p:nvPr>
            <p:ph type="dt" sz="half" idx="10"/>
          </p:nvPr>
        </p:nvSpPr>
        <p:spPr/>
        <p:txBody>
          <a:bodyPr/>
          <a:lstStyle/>
          <a:p>
            <a:fld id="{05FDF43B-360B-43C1-B85E-2457031A549B}" type="datetimeFigureOut">
              <a:rPr lang="en-IN" smtClean="0"/>
              <a:t>09-08-2026</a:t>
            </a:fld>
            <a:endParaRPr lang="en-IN"/>
          </a:p>
        </p:txBody>
      </p:sp>
      <p:sp>
        <p:nvSpPr>
          <p:cNvPr id="6" name="Footer Placeholder 5">
            <a:extLst>
              <a:ext uri="{FF2B5EF4-FFF2-40B4-BE49-F238E27FC236}">
                <a16:creationId xmlns:a16="http://schemas.microsoft.com/office/drawing/2014/main" id="{89302B9B-9AC6-D785-A742-E6195034DF0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DF1320B-31AF-1E68-1086-E19831D62868}"/>
              </a:ext>
            </a:extLst>
          </p:cNvPr>
          <p:cNvSpPr>
            <a:spLocks noGrp="1"/>
          </p:cNvSpPr>
          <p:nvPr>
            <p:ph type="sldNum" sz="quarter" idx="12"/>
          </p:nvPr>
        </p:nvSpPr>
        <p:spPr/>
        <p:txBody>
          <a:bodyPr/>
          <a:lstStyle/>
          <a:p>
            <a:fld id="{0C136CF2-39E6-4C62-B9BC-0C8B8448F4EF}" type="slidenum">
              <a:rPr lang="en-IN" smtClean="0"/>
              <a:t>‹#›</a:t>
            </a:fld>
            <a:endParaRPr lang="en-IN"/>
          </a:p>
        </p:txBody>
      </p:sp>
    </p:spTree>
    <p:extLst>
      <p:ext uri="{BB962C8B-B14F-4D97-AF65-F5344CB8AC3E}">
        <p14:creationId xmlns:p14="http://schemas.microsoft.com/office/powerpoint/2010/main" val="36325671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C78AB-F21E-1A0C-A8C8-0F8F33006D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DD859A2-F0C6-8519-D63E-26D17C47D9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29DDC27-CDF4-1E6E-CCB3-1B92BED17C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544C70-BEBB-0C87-9D3D-106396F3F9DA}"/>
              </a:ext>
            </a:extLst>
          </p:cNvPr>
          <p:cNvSpPr>
            <a:spLocks noGrp="1"/>
          </p:cNvSpPr>
          <p:nvPr>
            <p:ph type="dt" sz="half" idx="10"/>
          </p:nvPr>
        </p:nvSpPr>
        <p:spPr/>
        <p:txBody>
          <a:bodyPr/>
          <a:lstStyle/>
          <a:p>
            <a:fld id="{05FDF43B-360B-43C1-B85E-2457031A549B}" type="datetimeFigureOut">
              <a:rPr lang="en-IN" smtClean="0"/>
              <a:t>09-08-2026</a:t>
            </a:fld>
            <a:endParaRPr lang="en-IN"/>
          </a:p>
        </p:txBody>
      </p:sp>
      <p:sp>
        <p:nvSpPr>
          <p:cNvPr id="6" name="Footer Placeholder 5">
            <a:extLst>
              <a:ext uri="{FF2B5EF4-FFF2-40B4-BE49-F238E27FC236}">
                <a16:creationId xmlns:a16="http://schemas.microsoft.com/office/drawing/2014/main" id="{9272E2F6-5513-7251-D81C-A58E72CA03F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C9B889-8DED-1E8D-C7BB-C583426644D7}"/>
              </a:ext>
            </a:extLst>
          </p:cNvPr>
          <p:cNvSpPr>
            <a:spLocks noGrp="1"/>
          </p:cNvSpPr>
          <p:nvPr>
            <p:ph type="sldNum" sz="quarter" idx="12"/>
          </p:nvPr>
        </p:nvSpPr>
        <p:spPr/>
        <p:txBody>
          <a:bodyPr/>
          <a:lstStyle/>
          <a:p>
            <a:fld id="{0C136CF2-39E6-4C62-B9BC-0C8B8448F4EF}" type="slidenum">
              <a:rPr lang="en-IN" smtClean="0"/>
              <a:t>‹#›</a:t>
            </a:fld>
            <a:endParaRPr lang="en-IN"/>
          </a:p>
        </p:txBody>
      </p:sp>
    </p:spTree>
    <p:extLst>
      <p:ext uri="{BB962C8B-B14F-4D97-AF65-F5344CB8AC3E}">
        <p14:creationId xmlns:p14="http://schemas.microsoft.com/office/powerpoint/2010/main" val="12183350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F9E7A-3DB6-27F3-6F40-B35A667EC4C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01A2857-B15C-1B31-BAE0-403AB5C053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6DFDD7-A282-C246-86BF-34A506532447}"/>
              </a:ext>
            </a:extLst>
          </p:cNvPr>
          <p:cNvSpPr>
            <a:spLocks noGrp="1"/>
          </p:cNvSpPr>
          <p:nvPr>
            <p:ph type="dt" sz="half" idx="10"/>
          </p:nvPr>
        </p:nvSpPr>
        <p:spPr/>
        <p:txBody>
          <a:bodyPr/>
          <a:lstStyle/>
          <a:p>
            <a:fld id="{05FDF43B-360B-43C1-B85E-2457031A549B}" type="datetimeFigureOut">
              <a:rPr lang="en-IN" smtClean="0"/>
              <a:t>09-08-2026</a:t>
            </a:fld>
            <a:endParaRPr lang="en-IN"/>
          </a:p>
        </p:txBody>
      </p:sp>
      <p:sp>
        <p:nvSpPr>
          <p:cNvPr id="5" name="Footer Placeholder 4">
            <a:extLst>
              <a:ext uri="{FF2B5EF4-FFF2-40B4-BE49-F238E27FC236}">
                <a16:creationId xmlns:a16="http://schemas.microsoft.com/office/drawing/2014/main" id="{8B073853-8642-F6D3-EF9C-882D18ACFF1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81C775-466C-9824-4FC3-30EC49B3C2D9}"/>
              </a:ext>
            </a:extLst>
          </p:cNvPr>
          <p:cNvSpPr>
            <a:spLocks noGrp="1"/>
          </p:cNvSpPr>
          <p:nvPr>
            <p:ph type="sldNum" sz="quarter" idx="12"/>
          </p:nvPr>
        </p:nvSpPr>
        <p:spPr/>
        <p:txBody>
          <a:bodyPr/>
          <a:lstStyle/>
          <a:p>
            <a:fld id="{0C136CF2-39E6-4C62-B9BC-0C8B8448F4EF}" type="slidenum">
              <a:rPr lang="en-IN" smtClean="0"/>
              <a:t>‹#›</a:t>
            </a:fld>
            <a:endParaRPr lang="en-IN"/>
          </a:p>
        </p:txBody>
      </p:sp>
    </p:spTree>
    <p:extLst>
      <p:ext uri="{BB962C8B-B14F-4D97-AF65-F5344CB8AC3E}">
        <p14:creationId xmlns:p14="http://schemas.microsoft.com/office/powerpoint/2010/main" val="36664128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885980-DDFA-8AFB-8148-0B6AA78C290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C2387F5-84D0-7066-029E-9A0BB7983AB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E6D4144-245A-682E-6213-4CE0405C4B54}"/>
              </a:ext>
            </a:extLst>
          </p:cNvPr>
          <p:cNvSpPr>
            <a:spLocks noGrp="1"/>
          </p:cNvSpPr>
          <p:nvPr>
            <p:ph type="dt" sz="half" idx="10"/>
          </p:nvPr>
        </p:nvSpPr>
        <p:spPr/>
        <p:txBody>
          <a:bodyPr/>
          <a:lstStyle/>
          <a:p>
            <a:fld id="{05FDF43B-360B-43C1-B85E-2457031A549B}" type="datetimeFigureOut">
              <a:rPr lang="en-IN" smtClean="0"/>
              <a:t>09-08-2026</a:t>
            </a:fld>
            <a:endParaRPr lang="en-IN"/>
          </a:p>
        </p:txBody>
      </p:sp>
      <p:sp>
        <p:nvSpPr>
          <p:cNvPr id="5" name="Footer Placeholder 4">
            <a:extLst>
              <a:ext uri="{FF2B5EF4-FFF2-40B4-BE49-F238E27FC236}">
                <a16:creationId xmlns:a16="http://schemas.microsoft.com/office/drawing/2014/main" id="{CA74E3D5-1C92-4A7A-F3AB-4256F96233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200738-1C1A-5C3E-CA12-3431F146EA1C}"/>
              </a:ext>
            </a:extLst>
          </p:cNvPr>
          <p:cNvSpPr>
            <a:spLocks noGrp="1"/>
          </p:cNvSpPr>
          <p:nvPr>
            <p:ph type="sldNum" sz="quarter" idx="12"/>
          </p:nvPr>
        </p:nvSpPr>
        <p:spPr/>
        <p:txBody>
          <a:bodyPr/>
          <a:lstStyle/>
          <a:p>
            <a:fld id="{0C136CF2-39E6-4C62-B9BC-0C8B8448F4EF}" type="slidenum">
              <a:rPr lang="en-IN" smtClean="0"/>
              <a:t>‹#›</a:t>
            </a:fld>
            <a:endParaRPr lang="en-IN"/>
          </a:p>
        </p:txBody>
      </p:sp>
    </p:spTree>
    <p:extLst>
      <p:ext uri="{BB962C8B-B14F-4D97-AF65-F5344CB8AC3E}">
        <p14:creationId xmlns:p14="http://schemas.microsoft.com/office/powerpoint/2010/main" val="451350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805A57-D2C8-25FA-7EAB-630BDE0FDE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E6BFDA6-1742-DC03-88A5-0AA49014923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7DFE5CE-2582-3215-CB0B-A6DF63786F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FDF43B-360B-43C1-B85E-2457031A549B}" type="datetimeFigureOut">
              <a:rPr lang="en-IN" smtClean="0"/>
              <a:t>09-08-2026</a:t>
            </a:fld>
            <a:endParaRPr lang="en-IN"/>
          </a:p>
        </p:txBody>
      </p:sp>
      <p:sp>
        <p:nvSpPr>
          <p:cNvPr id="5" name="Footer Placeholder 4">
            <a:extLst>
              <a:ext uri="{FF2B5EF4-FFF2-40B4-BE49-F238E27FC236}">
                <a16:creationId xmlns:a16="http://schemas.microsoft.com/office/drawing/2014/main" id="{4FDA2D01-8F81-16C6-C9FD-C0A6D79B8B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42FF26C-3307-982C-F243-53E9C1E810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136CF2-39E6-4C62-B9BC-0C8B8448F4EF}" type="slidenum">
              <a:rPr lang="en-IN" smtClean="0"/>
              <a:t>‹#›</a:t>
            </a:fld>
            <a:endParaRPr lang="en-IN"/>
          </a:p>
        </p:txBody>
      </p:sp>
    </p:spTree>
    <p:extLst>
      <p:ext uri="{BB962C8B-B14F-4D97-AF65-F5344CB8AC3E}">
        <p14:creationId xmlns:p14="http://schemas.microsoft.com/office/powerpoint/2010/main" val="26235885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BBF5B-8DAC-0E05-041C-D71B53A3B4A3}"/>
              </a:ext>
            </a:extLst>
          </p:cNvPr>
          <p:cNvSpPr>
            <a:spLocks noGrp="1"/>
          </p:cNvSpPr>
          <p:nvPr>
            <p:ph type="ctrTitle"/>
          </p:nvPr>
        </p:nvSpPr>
        <p:spPr/>
        <p:txBody>
          <a:bodyPr/>
          <a:lstStyle/>
          <a:p>
            <a:r>
              <a:rPr lang="en-IN" dirty="0"/>
              <a:t>Tutorial -2</a:t>
            </a:r>
          </a:p>
        </p:txBody>
      </p:sp>
      <p:sp>
        <p:nvSpPr>
          <p:cNvPr id="3" name="Subtitle 2">
            <a:extLst>
              <a:ext uri="{FF2B5EF4-FFF2-40B4-BE49-F238E27FC236}">
                <a16:creationId xmlns:a16="http://schemas.microsoft.com/office/drawing/2014/main" id="{D642C4CB-5C1B-FC89-F6D8-C204BDCD0378}"/>
              </a:ext>
            </a:extLst>
          </p:cNvPr>
          <p:cNvSpPr>
            <a:spLocks noGrp="1"/>
          </p:cNvSpPr>
          <p:nvPr>
            <p:ph type="subTitle" idx="1"/>
          </p:nvPr>
        </p:nvSpPr>
        <p:spPr/>
        <p:txBody>
          <a:bodyPr/>
          <a:lstStyle/>
          <a:p>
            <a:r>
              <a:rPr lang="en-IN" dirty="0"/>
              <a:t>Fundamentals of Probability (Total Probability, Bayes theorem, Random Variable)</a:t>
            </a:r>
          </a:p>
        </p:txBody>
      </p:sp>
    </p:spTree>
    <p:extLst>
      <p:ext uri="{BB962C8B-B14F-4D97-AF65-F5344CB8AC3E}">
        <p14:creationId xmlns:p14="http://schemas.microsoft.com/office/powerpoint/2010/main" val="5606164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575FE4E-BE26-7269-0C45-CAC75CDBA9AA}"/>
              </a:ext>
            </a:extLst>
          </p:cNvPr>
          <p:cNvSpPr txBox="1"/>
          <p:nvPr/>
        </p:nvSpPr>
        <p:spPr>
          <a:xfrm>
            <a:off x="674269" y="367933"/>
            <a:ext cx="10621736" cy="5632311"/>
          </a:xfrm>
          <a:prstGeom prst="rect">
            <a:avLst/>
          </a:prstGeom>
          <a:noFill/>
        </p:spPr>
        <p:txBody>
          <a:bodyPr wrap="square" rtlCol="0">
            <a:spAutoFit/>
          </a:bodyPr>
          <a:lstStyle/>
          <a:p>
            <a:r>
              <a:rPr lang="en-IN" sz="2000" b="1" dirty="0">
                <a:solidFill>
                  <a:srgbClr val="FF0000"/>
                </a:solidFill>
                <a:latin typeface="Times New Roman" panose="02020603050405020304" pitchFamily="18" charset="0"/>
                <a:cs typeface="Times New Roman" panose="02020603050405020304" pitchFamily="18" charset="0"/>
              </a:rPr>
              <a:t>1) </a:t>
            </a:r>
            <a:r>
              <a:rPr lang="en-US" sz="2000" b="1" dirty="0">
                <a:solidFill>
                  <a:srgbClr val="FF0000"/>
                </a:solidFill>
                <a:latin typeface="Times New Roman" panose="02020603050405020304" pitchFamily="18" charset="0"/>
                <a:cs typeface="Times New Roman" panose="02020603050405020304" pitchFamily="18" charset="0"/>
              </a:rPr>
              <a:t>Let E</a:t>
            </a:r>
            <a:r>
              <a:rPr lang="en-US" sz="2000" b="1" baseline="-25000" dirty="0">
                <a:solidFill>
                  <a:srgbClr val="FF0000"/>
                </a:solidFill>
                <a:latin typeface="Times New Roman" panose="02020603050405020304" pitchFamily="18" charset="0"/>
                <a:cs typeface="Times New Roman" panose="02020603050405020304" pitchFamily="18" charset="0"/>
              </a:rPr>
              <a:t>1</a:t>
            </a:r>
            <a:r>
              <a:rPr lang="en-US" sz="2000" b="1" dirty="0">
                <a:solidFill>
                  <a:srgbClr val="FF0000"/>
                </a:solidFill>
                <a:latin typeface="Times New Roman" panose="02020603050405020304" pitchFamily="18" charset="0"/>
                <a:cs typeface="Times New Roman" panose="02020603050405020304" pitchFamily="18" charset="0"/>
              </a:rPr>
              <a:t>​,E</a:t>
            </a:r>
            <a:r>
              <a:rPr lang="en-US" sz="2000" b="1" baseline="-25000" dirty="0">
                <a:solidFill>
                  <a:srgbClr val="FF0000"/>
                </a:solidFill>
                <a:latin typeface="Times New Roman" panose="02020603050405020304" pitchFamily="18" charset="0"/>
                <a:cs typeface="Times New Roman" panose="02020603050405020304" pitchFamily="18" charset="0"/>
              </a:rPr>
              <a:t>2</a:t>
            </a:r>
            <a:r>
              <a:rPr lang="en-US" sz="2000" b="1" dirty="0">
                <a:solidFill>
                  <a:srgbClr val="FF0000"/>
                </a:solidFill>
                <a:latin typeface="Times New Roman" panose="02020603050405020304" pitchFamily="18" charset="0"/>
                <a:cs typeface="Times New Roman" panose="02020603050405020304" pitchFamily="18" charset="0"/>
              </a:rPr>
              <a:t>​, and E</a:t>
            </a:r>
            <a:r>
              <a:rPr lang="en-US" sz="2000" b="1" baseline="-25000" dirty="0">
                <a:solidFill>
                  <a:srgbClr val="FF0000"/>
                </a:solidFill>
                <a:latin typeface="Times New Roman" panose="02020603050405020304" pitchFamily="18" charset="0"/>
                <a:cs typeface="Times New Roman" panose="02020603050405020304" pitchFamily="18" charset="0"/>
              </a:rPr>
              <a:t>3</a:t>
            </a:r>
            <a:r>
              <a:rPr lang="en-US" sz="2000" b="1" dirty="0">
                <a:solidFill>
                  <a:srgbClr val="FF0000"/>
                </a:solidFill>
                <a:latin typeface="Times New Roman" panose="02020603050405020304" pitchFamily="18" charset="0"/>
                <a:cs typeface="Times New Roman" panose="02020603050405020304" pitchFamily="18" charset="0"/>
              </a:rPr>
              <a:t>​ denote the events of excessive snowfall in the first, second, and third winters, respectively, from this fall.</a:t>
            </a:r>
          </a:p>
          <a:p>
            <a:r>
              <a:rPr lang="en-US" sz="2000" b="1" dirty="0">
                <a:solidFill>
                  <a:srgbClr val="FF0000"/>
                </a:solidFill>
                <a:latin typeface="Times New Roman" panose="02020603050405020304" pitchFamily="18" charset="0"/>
                <a:cs typeface="Times New Roman" panose="02020603050405020304" pitchFamily="18" charset="0"/>
              </a:rPr>
              <a:t>Statistical records of snowfalls indicate that during any winter, the probability of excessive snow is 0.10. However, if excessive snowfall occurred in the previous winter, the probability of excessive snowfall in the following winter is increased to 0.40, whereas if the preceding two winters are both subjected to excessive snowfalls, the probability of excessive snow in the following winter will be 0.20.</a:t>
            </a:r>
          </a:p>
          <a:p>
            <a:r>
              <a:rPr lang="en-IN" sz="2000" b="1" dirty="0">
                <a:solidFill>
                  <a:srgbClr val="FF0000"/>
                </a:solidFill>
                <a:latin typeface="Times New Roman" panose="02020603050405020304" pitchFamily="18" charset="0"/>
                <a:cs typeface="Times New Roman" panose="02020603050405020304" pitchFamily="18" charset="0"/>
              </a:rPr>
              <a:t>a) </a:t>
            </a:r>
            <a:r>
              <a:rPr lang="en-US" sz="2000" b="1" dirty="0">
                <a:solidFill>
                  <a:srgbClr val="FF0000"/>
                </a:solidFill>
                <a:latin typeface="Times New Roman" panose="02020603050405020304" pitchFamily="18" charset="0"/>
                <a:cs typeface="Times New Roman" panose="02020603050405020304" pitchFamily="18" charset="0"/>
              </a:rPr>
              <a:t>From the information given above, determine the following:</a:t>
            </a:r>
          </a:p>
          <a:p>
            <a:r>
              <a:rPr lang="en-US" sz="2000" b="1" dirty="0">
                <a:solidFill>
                  <a:srgbClr val="FF0000"/>
                </a:solidFill>
                <a:latin typeface="Times New Roman" panose="02020603050405020304" pitchFamily="18" charset="0"/>
                <a:cs typeface="Times New Roman" panose="02020603050405020304" pitchFamily="18" charset="0"/>
              </a:rPr>
              <a:t>P(E</a:t>
            </a:r>
            <a:r>
              <a:rPr lang="en-US" sz="2000" b="1" baseline="-25000" dirty="0">
                <a:solidFill>
                  <a:srgbClr val="FF0000"/>
                </a:solidFill>
                <a:latin typeface="Times New Roman" panose="02020603050405020304" pitchFamily="18" charset="0"/>
                <a:cs typeface="Times New Roman" panose="02020603050405020304" pitchFamily="18" charset="0"/>
              </a:rPr>
              <a:t>1</a:t>
            </a:r>
            <a:r>
              <a:rPr lang="en-US" sz="2000" b="1" dirty="0">
                <a:solidFill>
                  <a:srgbClr val="FF0000"/>
                </a:solidFill>
                <a:latin typeface="Times New Roman" panose="02020603050405020304" pitchFamily="18" charset="0"/>
                <a:cs typeface="Times New Roman" panose="02020603050405020304" pitchFamily="18" charset="0"/>
              </a:rPr>
              <a:t>​), P(E</a:t>
            </a:r>
            <a:r>
              <a:rPr lang="en-US" sz="2000" b="1" baseline="-25000" dirty="0">
                <a:solidFill>
                  <a:srgbClr val="FF0000"/>
                </a:solidFill>
                <a:latin typeface="Times New Roman" panose="02020603050405020304" pitchFamily="18" charset="0"/>
                <a:cs typeface="Times New Roman" panose="02020603050405020304" pitchFamily="18" charset="0"/>
              </a:rPr>
              <a:t>2</a:t>
            </a:r>
            <a:r>
              <a:rPr lang="en-US" sz="2000" b="1" dirty="0">
                <a:solidFill>
                  <a:srgbClr val="FF0000"/>
                </a:solidFill>
                <a:latin typeface="Times New Roman" panose="02020603050405020304" pitchFamily="18" charset="0"/>
                <a:cs typeface="Times New Roman" panose="02020603050405020304" pitchFamily="18" charset="0"/>
              </a:rPr>
              <a:t>​),  P(E</a:t>
            </a:r>
            <a:r>
              <a:rPr lang="en-US" sz="2000" b="1" baseline="-25000" dirty="0">
                <a:solidFill>
                  <a:srgbClr val="FF0000"/>
                </a:solidFill>
                <a:latin typeface="Times New Roman" panose="02020603050405020304" pitchFamily="18" charset="0"/>
                <a:cs typeface="Times New Roman" panose="02020603050405020304" pitchFamily="18" charset="0"/>
              </a:rPr>
              <a:t>2</a:t>
            </a:r>
            <a:r>
              <a:rPr lang="en-US" sz="2000" b="1" dirty="0">
                <a:solidFill>
                  <a:srgbClr val="FF0000"/>
                </a:solidFill>
                <a:latin typeface="Times New Roman" panose="02020603050405020304" pitchFamily="18" charset="0"/>
                <a:cs typeface="Times New Roman" panose="02020603050405020304" pitchFamily="18" charset="0"/>
              </a:rPr>
              <a:t>​∣E</a:t>
            </a:r>
            <a:r>
              <a:rPr lang="en-US" sz="2000" b="1" baseline="-25000" dirty="0">
                <a:solidFill>
                  <a:srgbClr val="FF0000"/>
                </a:solidFill>
                <a:latin typeface="Times New Roman" panose="02020603050405020304" pitchFamily="18" charset="0"/>
                <a:cs typeface="Times New Roman" panose="02020603050405020304" pitchFamily="18" charset="0"/>
              </a:rPr>
              <a:t>1</a:t>
            </a:r>
            <a:r>
              <a:rPr lang="en-US" sz="2000" b="1" dirty="0">
                <a:solidFill>
                  <a:srgbClr val="FF0000"/>
                </a:solidFill>
                <a:latin typeface="Times New Roman" panose="02020603050405020304" pitchFamily="18" charset="0"/>
                <a:cs typeface="Times New Roman" panose="02020603050405020304" pitchFamily="18" charset="0"/>
              </a:rPr>
              <a:t>​), P(E</a:t>
            </a:r>
            <a:r>
              <a:rPr lang="en-US" sz="2000" b="1" baseline="-25000" dirty="0">
                <a:solidFill>
                  <a:srgbClr val="FF0000"/>
                </a:solidFill>
                <a:latin typeface="Times New Roman" panose="02020603050405020304" pitchFamily="18" charset="0"/>
                <a:cs typeface="Times New Roman" panose="02020603050405020304" pitchFamily="18" charset="0"/>
              </a:rPr>
              <a:t>3</a:t>
            </a:r>
            <a:r>
              <a:rPr lang="en-US" sz="2000" b="1" dirty="0">
                <a:solidFill>
                  <a:srgbClr val="FF0000"/>
                </a:solidFill>
                <a:latin typeface="Times New Roman" panose="02020603050405020304" pitchFamily="18" charset="0"/>
                <a:cs typeface="Times New Roman" panose="02020603050405020304" pitchFamily="18" charset="0"/>
              </a:rPr>
              <a:t>​∣E</a:t>
            </a:r>
            <a:r>
              <a:rPr lang="en-US" sz="2000" b="1" baseline="-25000" dirty="0">
                <a:solidFill>
                  <a:srgbClr val="FF0000"/>
                </a:solidFill>
                <a:latin typeface="Times New Roman" panose="02020603050405020304" pitchFamily="18" charset="0"/>
                <a:cs typeface="Times New Roman" panose="02020603050405020304" pitchFamily="18" charset="0"/>
              </a:rPr>
              <a:t>1</a:t>
            </a:r>
            <a:r>
              <a:rPr lang="en-US" sz="2000" b="1" dirty="0">
                <a:solidFill>
                  <a:srgbClr val="FF0000"/>
                </a:solidFill>
                <a:latin typeface="Times New Roman" panose="02020603050405020304" pitchFamily="18" charset="0"/>
                <a:cs typeface="Times New Roman" panose="02020603050405020304" pitchFamily="18" charset="0"/>
              </a:rPr>
              <a:t>​,E</a:t>
            </a:r>
            <a:r>
              <a:rPr lang="en-US" sz="2000" b="1" baseline="-25000" dirty="0">
                <a:solidFill>
                  <a:srgbClr val="FF0000"/>
                </a:solidFill>
                <a:latin typeface="Times New Roman" panose="02020603050405020304" pitchFamily="18" charset="0"/>
                <a:cs typeface="Times New Roman" panose="02020603050405020304" pitchFamily="18" charset="0"/>
              </a:rPr>
              <a:t>2</a:t>
            </a:r>
            <a:r>
              <a:rPr lang="en-US" sz="2000" b="1" dirty="0">
                <a:solidFill>
                  <a:srgbClr val="FF0000"/>
                </a:solidFill>
                <a:latin typeface="Times New Roman" panose="02020603050405020304" pitchFamily="18" charset="0"/>
                <a:cs typeface="Times New Roman" panose="02020603050405020304" pitchFamily="18" charset="0"/>
              </a:rPr>
              <a:t>​), P(E</a:t>
            </a:r>
            <a:r>
              <a:rPr lang="en-US" sz="2000" b="1" baseline="-25000" dirty="0">
                <a:solidFill>
                  <a:srgbClr val="FF0000"/>
                </a:solidFill>
                <a:latin typeface="Times New Roman" panose="02020603050405020304" pitchFamily="18" charset="0"/>
                <a:cs typeface="Times New Roman" panose="02020603050405020304" pitchFamily="18" charset="0"/>
              </a:rPr>
              <a:t>3</a:t>
            </a:r>
            <a:r>
              <a:rPr lang="en-US" sz="2000" b="1" dirty="0">
                <a:solidFill>
                  <a:srgbClr val="FF0000"/>
                </a:solidFill>
                <a:latin typeface="Times New Roman" panose="02020603050405020304" pitchFamily="18" charset="0"/>
                <a:cs typeface="Times New Roman" panose="02020603050405020304" pitchFamily="18" charset="0"/>
              </a:rPr>
              <a:t>​∣E</a:t>
            </a:r>
            <a:r>
              <a:rPr lang="en-US" sz="2000" b="1" baseline="-25000" dirty="0">
                <a:solidFill>
                  <a:srgbClr val="FF0000"/>
                </a:solidFill>
                <a:latin typeface="Times New Roman" panose="02020603050405020304" pitchFamily="18" charset="0"/>
                <a:cs typeface="Times New Roman" panose="02020603050405020304" pitchFamily="18" charset="0"/>
              </a:rPr>
              <a:t>2</a:t>
            </a:r>
            <a:r>
              <a:rPr lang="en-US" sz="2000" b="1" dirty="0">
                <a:solidFill>
                  <a:srgbClr val="FF0000"/>
                </a:solidFill>
                <a:latin typeface="Times New Roman" panose="02020603050405020304" pitchFamily="18" charset="0"/>
                <a:cs typeface="Times New Roman" panose="02020603050405020304" pitchFamily="18" charset="0"/>
              </a:rPr>
              <a:t>​) </a:t>
            </a:r>
          </a:p>
          <a:p>
            <a:r>
              <a:rPr lang="en-US" sz="2000" b="1" dirty="0">
                <a:solidFill>
                  <a:srgbClr val="FF0000"/>
                </a:solidFill>
                <a:latin typeface="Times New Roman" panose="02020603050405020304" pitchFamily="18" charset="0"/>
                <a:cs typeface="Times New Roman" panose="02020603050405020304" pitchFamily="18" charset="0"/>
              </a:rPr>
              <a:t>(b) What is the probability that excessive snowfall will occur in at least one of the next two winters?</a:t>
            </a:r>
          </a:p>
          <a:p>
            <a:r>
              <a:rPr lang="en-US" sz="2000" b="1" dirty="0">
                <a:solidFill>
                  <a:srgbClr val="FF0000"/>
                </a:solidFill>
                <a:latin typeface="Times New Roman" panose="02020603050405020304" pitchFamily="18" charset="0"/>
                <a:cs typeface="Times New Roman" panose="02020603050405020304" pitchFamily="18" charset="0"/>
              </a:rPr>
              <a:t>(c) What is the probability that excessive snowfall will occur in each of the next three winters?</a:t>
            </a:r>
          </a:p>
          <a:p>
            <a:r>
              <a:rPr lang="en-US" sz="2000" b="1" dirty="0">
                <a:solidFill>
                  <a:srgbClr val="FF0000"/>
                </a:solidFill>
                <a:latin typeface="Times New Roman" panose="02020603050405020304" pitchFamily="18" charset="0"/>
                <a:cs typeface="Times New Roman" panose="02020603050405020304" pitchFamily="18" charset="0"/>
              </a:rPr>
              <a:t>(d) If the preceding winter did not experience excessive snowfall, what is the probability that the subsequent winter will not suffer excessive snowfall? In other words, determine</a:t>
            </a:r>
            <a:r>
              <a:rPr lang="en-IN" sz="2000" b="1" dirty="0">
                <a:solidFill>
                  <a:srgbClr val="FF0000"/>
                </a:solidFill>
                <a:latin typeface="Times New Roman" panose="02020603050405020304" pitchFamily="18" charset="0"/>
                <a:cs typeface="Times New Roman" panose="02020603050405020304" pitchFamily="18" charset="0"/>
              </a:rPr>
              <a:t> P(E</a:t>
            </a:r>
            <a:r>
              <a:rPr lang="en-IN" sz="2000" b="1" baseline="-25000" dirty="0">
                <a:solidFill>
                  <a:srgbClr val="FF0000"/>
                </a:solidFill>
                <a:latin typeface="Times New Roman" panose="02020603050405020304" pitchFamily="18" charset="0"/>
                <a:cs typeface="Times New Roman" panose="02020603050405020304" pitchFamily="18" charset="0"/>
              </a:rPr>
              <a:t>2</a:t>
            </a:r>
            <a:r>
              <a:rPr lang="en-IN" sz="2000" b="1" baseline="30000" dirty="0">
                <a:solidFill>
                  <a:srgbClr val="FF0000"/>
                </a:solidFill>
                <a:latin typeface="Times New Roman" panose="02020603050405020304" pitchFamily="18" charset="0"/>
                <a:cs typeface="Times New Roman" panose="02020603050405020304" pitchFamily="18" charset="0"/>
              </a:rPr>
              <a:t>c</a:t>
            </a:r>
            <a:r>
              <a:rPr lang="en-IN" sz="2000" b="1" dirty="0">
                <a:solidFill>
                  <a:srgbClr val="FF0000"/>
                </a:solidFill>
                <a:latin typeface="Times New Roman" panose="02020603050405020304" pitchFamily="18" charset="0"/>
                <a:cs typeface="Times New Roman" panose="02020603050405020304" pitchFamily="18" charset="0"/>
              </a:rPr>
              <a:t>​​∣E</a:t>
            </a:r>
            <a:r>
              <a:rPr lang="en-IN" sz="2000" b="1" baseline="-25000" dirty="0">
                <a:solidFill>
                  <a:srgbClr val="FF0000"/>
                </a:solidFill>
                <a:latin typeface="Times New Roman" panose="02020603050405020304" pitchFamily="18" charset="0"/>
                <a:cs typeface="Times New Roman" panose="02020603050405020304" pitchFamily="18" charset="0"/>
              </a:rPr>
              <a:t>1</a:t>
            </a:r>
            <a:r>
              <a:rPr lang="en-IN" sz="2000" b="1" baseline="30000" dirty="0">
                <a:solidFill>
                  <a:srgbClr val="FF0000"/>
                </a:solidFill>
                <a:latin typeface="Times New Roman" panose="02020603050405020304" pitchFamily="18" charset="0"/>
                <a:cs typeface="Times New Roman" panose="02020603050405020304" pitchFamily="18" charset="0"/>
              </a:rPr>
              <a:t>c</a:t>
            </a:r>
            <a:r>
              <a:rPr lang="en-IN" sz="2000" b="1" dirty="0">
                <a:solidFill>
                  <a:srgbClr val="FF0000"/>
                </a:solidFill>
                <a:latin typeface="Times New Roman" panose="02020603050405020304" pitchFamily="18" charset="0"/>
                <a:cs typeface="Times New Roman" panose="02020603050405020304" pitchFamily="18" charset="0"/>
              </a:rPr>
              <a:t>​​).</a:t>
            </a:r>
          </a:p>
          <a:p>
            <a:endParaRPr lang="en-IN" sz="2000" b="1" dirty="0">
              <a:solidFill>
                <a:srgbClr val="FF0000"/>
              </a:solidFill>
              <a:latin typeface="Times New Roman" panose="02020603050405020304" pitchFamily="18" charset="0"/>
              <a:cs typeface="Times New Roman" panose="02020603050405020304" pitchFamily="18" charset="0"/>
            </a:endParaRPr>
          </a:p>
          <a:p>
            <a:endParaRPr lang="en-IN" sz="2000" b="1" dirty="0">
              <a:solidFill>
                <a:srgbClr val="FF0000"/>
              </a:solidFill>
              <a:latin typeface="Times New Roman" panose="02020603050405020304" pitchFamily="18" charset="0"/>
              <a:cs typeface="Times New Roman" panose="02020603050405020304" pitchFamily="18" charset="0"/>
            </a:endParaRPr>
          </a:p>
          <a:p>
            <a:r>
              <a:rPr lang="en-US" sz="2000" b="1" dirty="0">
                <a:solidFill>
                  <a:srgbClr val="00B0F0"/>
                </a:solidFill>
                <a:latin typeface="Times New Roman" panose="02020603050405020304" pitchFamily="18" charset="0"/>
                <a:cs typeface="Times New Roman" panose="02020603050405020304" pitchFamily="18" charset="0"/>
              </a:rPr>
              <a:t>Hint:</a:t>
            </a:r>
            <a:r>
              <a:rPr lang="en-US" sz="2000" dirty="0">
                <a:solidFill>
                  <a:srgbClr val="00B0F0"/>
                </a:solidFill>
                <a:latin typeface="Times New Roman" panose="02020603050405020304" pitchFamily="18" charset="0"/>
                <a:cs typeface="Times New Roman" panose="02020603050405020304" pitchFamily="18" charset="0"/>
              </a:rPr>
              <a:t> </a:t>
            </a:r>
            <a:r>
              <a:rPr lang="en-US" sz="2000" b="1" dirty="0">
                <a:solidFill>
                  <a:srgbClr val="00B050"/>
                </a:solidFill>
                <a:latin typeface="Times New Roman" panose="02020603050405020304" pitchFamily="18" charset="0"/>
                <a:cs typeface="Times New Roman" panose="02020603050405020304" pitchFamily="18" charset="0"/>
              </a:rPr>
              <a:t>Start out with the following relationship:</a:t>
            </a:r>
          </a:p>
          <a:p>
            <a:r>
              <a:rPr lang="en-US" sz="2000" b="1" dirty="0">
                <a:solidFill>
                  <a:srgbClr val="00B050"/>
                </a:solidFill>
                <a:latin typeface="Times New Roman" panose="02020603050405020304" pitchFamily="18" charset="0"/>
                <a:cs typeface="Times New Roman" panose="02020603050405020304" pitchFamily="18" charset="0"/>
              </a:rPr>
              <a:t>P(E</a:t>
            </a:r>
            <a:r>
              <a:rPr lang="en-US" sz="2000" b="1" baseline="-25000" dirty="0">
                <a:solidFill>
                  <a:srgbClr val="00B050"/>
                </a:solidFill>
                <a:latin typeface="Times New Roman" panose="02020603050405020304" pitchFamily="18" charset="0"/>
                <a:cs typeface="Times New Roman" panose="02020603050405020304" pitchFamily="18" charset="0"/>
              </a:rPr>
              <a:t>1</a:t>
            </a:r>
            <a:r>
              <a:rPr lang="en-US" sz="2000" b="1" baseline="30000" dirty="0">
                <a:solidFill>
                  <a:srgbClr val="00B050"/>
                </a:solidFill>
                <a:latin typeface="Times New Roman" panose="02020603050405020304" pitchFamily="18" charset="0"/>
                <a:cs typeface="Times New Roman" panose="02020603050405020304" pitchFamily="18" charset="0"/>
              </a:rPr>
              <a:t>c</a:t>
            </a:r>
            <a:r>
              <a:rPr lang="en-US" sz="2000" b="1" dirty="0">
                <a:solidFill>
                  <a:srgbClr val="00B050"/>
                </a:solidFill>
                <a:latin typeface="Times New Roman" panose="02020603050405020304" pitchFamily="18" charset="0"/>
                <a:cs typeface="Times New Roman" panose="02020603050405020304" pitchFamily="18" charset="0"/>
              </a:rPr>
              <a:t>​∪E</a:t>
            </a:r>
            <a:r>
              <a:rPr lang="en-US" sz="2000" b="1" baseline="-25000" dirty="0">
                <a:solidFill>
                  <a:srgbClr val="00B050"/>
                </a:solidFill>
                <a:latin typeface="Times New Roman" panose="02020603050405020304" pitchFamily="18" charset="0"/>
                <a:cs typeface="Times New Roman" panose="02020603050405020304" pitchFamily="18" charset="0"/>
              </a:rPr>
              <a:t>2</a:t>
            </a:r>
            <a:r>
              <a:rPr lang="en-US" sz="2000" b="1" baseline="30000" dirty="0">
                <a:solidFill>
                  <a:srgbClr val="00B050"/>
                </a:solidFill>
                <a:latin typeface="Times New Roman" panose="02020603050405020304" pitchFamily="18" charset="0"/>
                <a:cs typeface="Times New Roman" panose="02020603050405020304" pitchFamily="18" charset="0"/>
              </a:rPr>
              <a:t>c</a:t>
            </a:r>
            <a:r>
              <a:rPr lang="en-US" sz="2000" b="1" dirty="0">
                <a:solidFill>
                  <a:srgbClr val="00B050"/>
                </a:solidFill>
                <a:latin typeface="Times New Roman" panose="02020603050405020304" pitchFamily="18" charset="0"/>
                <a:cs typeface="Times New Roman" panose="02020603050405020304" pitchFamily="18" charset="0"/>
              </a:rPr>
              <a:t>​​)=1−P(E</a:t>
            </a:r>
            <a:r>
              <a:rPr lang="en-US" sz="2000" b="1" baseline="-25000" dirty="0">
                <a:solidFill>
                  <a:srgbClr val="00B050"/>
                </a:solidFill>
                <a:latin typeface="Times New Roman" panose="02020603050405020304" pitchFamily="18" charset="0"/>
                <a:cs typeface="Times New Roman" panose="02020603050405020304" pitchFamily="18" charset="0"/>
              </a:rPr>
              <a:t>1</a:t>
            </a:r>
            <a:r>
              <a:rPr lang="en-US" sz="2000" b="1" baseline="30000" dirty="0">
                <a:solidFill>
                  <a:srgbClr val="00B050"/>
                </a:solidFill>
                <a:latin typeface="Times New Roman" panose="02020603050405020304" pitchFamily="18" charset="0"/>
                <a:cs typeface="Times New Roman" panose="02020603050405020304" pitchFamily="18" charset="0"/>
              </a:rPr>
              <a:t>c</a:t>
            </a:r>
            <a:r>
              <a:rPr lang="en-US" sz="2000" b="1" dirty="0">
                <a:solidFill>
                  <a:srgbClr val="00B050"/>
                </a:solidFill>
                <a:latin typeface="Times New Roman" panose="02020603050405020304" pitchFamily="18" charset="0"/>
                <a:cs typeface="Times New Roman" panose="02020603050405020304" pitchFamily="18" charset="0"/>
              </a:rPr>
              <a:t>​∪E</a:t>
            </a:r>
            <a:r>
              <a:rPr lang="en-US" sz="2000" b="1" baseline="-25000" dirty="0">
                <a:solidFill>
                  <a:srgbClr val="00B050"/>
                </a:solidFill>
                <a:latin typeface="Times New Roman" panose="02020603050405020304" pitchFamily="18" charset="0"/>
                <a:cs typeface="Times New Roman" panose="02020603050405020304" pitchFamily="18" charset="0"/>
              </a:rPr>
              <a:t>2</a:t>
            </a:r>
            <a:r>
              <a:rPr lang="en-US" sz="2000" b="1" baseline="30000" dirty="0">
                <a:solidFill>
                  <a:srgbClr val="00B050"/>
                </a:solidFill>
                <a:latin typeface="Times New Roman" panose="02020603050405020304" pitchFamily="18" charset="0"/>
                <a:cs typeface="Times New Roman" panose="02020603050405020304" pitchFamily="18" charset="0"/>
              </a:rPr>
              <a:t>c</a:t>
            </a:r>
            <a:r>
              <a:rPr lang="en-US" sz="2000" b="1" dirty="0">
                <a:solidFill>
                  <a:srgbClr val="00B050"/>
                </a:solidFill>
                <a:latin typeface="Times New Roman" panose="02020603050405020304" pitchFamily="18" charset="0"/>
                <a:cs typeface="Times New Roman" panose="02020603050405020304" pitchFamily="18" charset="0"/>
              </a:rPr>
              <a:t>​</a:t>
            </a:r>
            <a:r>
              <a:rPr lang="en-US" sz="2000" b="1" baseline="30000" dirty="0">
                <a:solidFill>
                  <a:srgbClr val="00B050"/>
                </a:solidFill>
                <a:latin typeface="Times New Roman" panose="02020603050405020304" pitchFamily="18" charset="0"/>
                <a:cs typeface="Times New Roman" panose="02020603050405020304" pitchFamily="18" charset="0"/>
              </a:rPr>
              <a:t>)c=</a:t>
            </a:r>
            <a:r>
              <a:rPr lang="en-US" sz="2000" b="1" dirty="0">
                <a:solidFill>
                  <a:srgbClr val="00B050"/>
                </a:solidFill>
                <a:latin typeface="Times New Roman" panose="02020603050405020304" pitchFamily="18" charset="0"/>
                <a:cs typeface="Times New Roman" panose="02020603050405020304" pitchFamily="18" charset="0"/>
              </a:rPr>
              <a:t>1−P(E</a:t>
            </a:r>
            <a:r>
              <a:rPr lang="en-US" sz="2000" b="1" baseline="-25000" dirty="0">
                <a:solidFill>
                  <a:srgbClr val="00B050"/>
                </a:solidFill>
                <a:latin typeface="Times New Roman" panose="02020603050405020304" pitchFamily="18" charset="0"/>
                <a:cs typeface="Times New Roman" panose="02020603050405020304" pitchFamily="18" charset="0"/>
              </a:rPr>
              <a:t>1</a:t>
            </a:r>
            <a:r>
              <a:rPr lang="en-US" sz="2000" b="1" dirty="0">
                <a:solidFill>
                  <a:srgbClr val="00B050"/>
                </a:solidFill>
                <a:latin typeface="Times New Roman" panose="02020603050405020304" pitchFamily="18" charset="0"/>
                <a:cs typeface="Times New Roman" panose="02020603050405020304" pitchFamily="18" charset="0"/>
              </a:rPr>
              <a:t>​E</a:t>
            </a:r>
            <a:r>
              <a:rPr lang="en-US" sz="2000" b="1" baseline="-25000" dirty="0">
                <a:solidFill>
                  <a:srgbClr val="00B050"/>
                </a:solidFill>
                <a:latin typeface="Times New Roman" panose="02020603050405020304" pitchFamily="18" charset="0"/>
                <a:cs typeface="Times New Roman" panose="02020603050405020304" pitchFamily="18" charset="0"/>
              </a:rPr>
              <a:t>2</a:t>
            </a:r>
            <a:r>
              <a:rPr lang="en-US" sz="2000" b="1" dirty="0">
                <a:solidFill>
                  <a:srgbClr val="00B05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709325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B8A5D4-12E3-F279-808F-4F09D24C9900}"/>
              </a:ext>
            </a:extLst>
          </p:cNvPr>
          <p:cNvSpPr txBox="1"/>
          <p:nvPr/>
        </p:nvSpPr>
        <p:spPr>
          <a:xfrm>
            <a:off x="447261" y="357809"/>
            <a:ext cx="11519452" cy="6370975"/>
          </a:xfrm>
          <a:prstGeom prst="rect">
            <a:avLst/>
          </a:prstGeom>
          <a:noFill/>
        </p:spPr>
        <p:txBody>
          <a:bodyPr wrap="square" rtlCol="0">
            <a:spAutoFit/>
          </a:bodyPr>
          <a:lstStyle/>
          <a:p>
            <a:r>
              <a:rPr lang="en-IN" sz="2400" b="1" dirty="0">
                <a:solidFill>
                  <a:srgbClr val="FF0000"/>
                </a:solidFill>
              </a:rPr>
              <a:t>2) Aggregates for the construction of an RC building are supplied by 2 companies, Company A and Company B. Orders for Company A to deliver 600 truckloads a day and 400 truckloads a day from Company B. From prior experience, it is expected that 3% of the material from Company a will be substandard, whereas 1% of the material from company B will be substandard. </a:t>
            </a:r>
            <a:br>
              <a:rPr lang="en-IN" sz="2400" b="1" dirty="0">
                <a:solidFill>
                  <a:srgbClr val="FF0000"/>
                </a:solidFill>
              </a:rPr>
            </a:br>
            <a:r>
              <a:rPr lang="en-IN" sz="2400" b="1" dirty="0">
                <a:solidFill>
                  <a:srgbClr val="FF0000"/>
                </a:solidFill>
              </a:rPr>
              <a:t>Consider:</a:t>
            </a:r>
          </a:p>
          <a:p>
            <a:r>
              <a:rPr lang="en-IN" sz="2400" b="1" dirty="0">
                <a:solidFill>
                  <a:srgbClr val="FF0000"/>
                </a:solidFill>
              </a:rPr>
              <a:t>R = aggregates supplied by company A.</a:t>
            </a:r>
          </a:p>
          <a:p>
            <a:r>
              <a:rPr lang="en-IN" sz="2400" b="1" dirty="0">
                <a:solidFill>
                  <a:srgbClr val="FF0000"/>
                </a:solidFill>
              </a:rPr>
              <a:t>Q = aggregates supplied by company B.</a:t>
            </a:r>
          </a:p>
          <a:p>
            <a:r>
              <a:rPr lang="en-IN" sz="2400" b="1" dirty="0">
                <a:solidFill>
                  <a:srgbClr val="FF0000"/>
                </a:solidFill>
              </a:rPr>
              <a:t>E = aggregates are substandard.</a:t>
            </a:r>
          </a:p>
          <a:p>
            <a:pPr marL="400050" indent="-400050">
              <a:buAutoNum type="romanLcParenR"/>
            </a:pPr>
            <a:r>
              <a:rPr lang="en-IN" sz="2400" b="1" dirty="0">
                <a:solidFill>
                  <a:srgbClr val="FF0000"/>
                </a:solidFill>
              </a:rPr>
              <a:t>What is the probability of substandard aggregates?</a:t>
            </a:r>
          </a:p>
          <a:p>
            <a:pPr marL="400050" indent="-400050">
              <a:buAutoNum type="romanLcParenR"/>
            </a:pPr>
            <a:r>
              <a:rPr lang="en-IN" sz="2400" b="1" dirty="0">
                <a:solidFill>
                  <a:srgbClr val="FF0000"/>
                </a:solidFill>
              </a:rPr>
              <a:t>What is the probability that the substandard aggregate is from company A?</a:t>
            </a:r>
          </a:p>
          <a:p>
            <a:pPr marL="400050" indent="-400050">
              <a:buAutoNum type="romanLcParenR"/>
            </a:pPr>
            <a:endParaRPr lang="en-IN" sz="2400" b="1" dirty="0"/>
          </a:p>
          <a:p>
            <a:r>
              <a:rPr lang="en-IN" sz="2400" b="1" dirty="0"/>
              <a:t>Sol:</a:t>
            </a:r>
          </a:p>
          <a:p>
            <a:pPr marL="400050" indent="-400050">
              <a:buAutoNum type="romanLcParenR"/>
            </a:pPr>
            <a:r>
              <a:rPr lang="en-IN" sz="2400" b="1" dirty="0">
                <a:solidFill>
                  <a:srgbClr val="00B0F0"/>
                </a:solidFill>
              </a:rPr>
              <a:t>Formulation for Probability of Substandard aggregates is P(E)</a:t>
            </a:r>
          </a:p>
          <a:p>
            <a:r>
              <a:rPr lang="en-IN" sz="2400" b="1" dirty="0">
                <a:solidFill>
                  <a:srgbClr val="00B050"/>
                </a:solidFill>
              </a:rPr>
              <a:t>              Refer “Total Probability Theorem”</a:t>
            </a:r>
          </a:p>
          <a:p>
            <a:r>
              <a:rPr lang="en-IN" sz="2400" b="1" dirty="0">
                <a:solidFill>
                  <a:srgbClr val="00B0F0"/>
                </a:solidFill>
              </a:rPr>
              <a:t>ii) Formulation of the Probability of substandard aggregate from company A is P(A/E)</a:t>
            </a:r>
          </a:p>
          <a:p>
            <a:r>
              <a:rPr lang="en-IN" sz="2400" b="1" dirty="0"/>
              <a:t>           </a:t>
            </a:r>
            <a:r>
              <a:rPr lang="en-IN" sz="2400" b="1" dirty="0">
                <a:solidFill>
                  <a:srgbClr val="00B050"/>
                </a:solidFill>
              </a:rPr>
              <a:t>     Refer “Bayes Theorem”</a:t>
            </a:r>
          </a:p>
        </p:txBody>
      </p:sp>
    </p:spTree>
    <p:extLst>
      <p:ext uri="{BB962C8B-B14F-4D97-AF65-F5344CB8AC3E}">
        <p14:creationId xmlns:p14="http://schemas.microsoft.com/office/powerpoint/2010/main" val="1446921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3BD56-CC75-790F-AD1D-FA2FA543811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B358D6D-F11E-0019-C651-08BFCB8C64FA}"/>
              </a:ext>
            </a:extLst>
          </p:cNvPr>
          <p:cNvSpPr txBox="1"/>
          <p:nvPr/>
        </p:nvSpPr>
        <p:spPr>
          <a:xfrm>
            <a:off x="336274" y="386090"/>
            <a:ext cx="11519452" cy="5447645"/>
          </a:xfrm>
          <a:prstGeom prst="rect">
            <a:avLst/>
          </a:prstGeom>
          <a:noFill/>
        </p:spPr>
        <p:txBody>
          <a:bodyPr wrap="square" rtlCol="0">
            <a:spAutoFit/>
          </a:bodyPr>
          <a:lstStyle/>
          <a:p>
            <a:r>
              <a:rPr lang="en-IN" sz="2400" b="1" dirty="0">
                <a:solidFill>
                  <a:srgbClr val="FF0000"/>
                </a:solidFill>
              </a:rPr>
              <a:t>3) The probability of contracting a certain disease (event D) during one’s lifetime is very small, with probability P(D)=0.001. However, if left untreated, the disease is always fatal. Fortunately, modern medical science has provided a diagnostic test to detect the presence of disease; however, the test is not always correct. If the person has the disease, there is only 85% that the test will be positive (I.e., P(T/D) = 0.85). Also, there is a small probability that 2% of the test will be a positive even when the patient doesn’t have the disease (i.e., P(T/D</a:t>
            </a:r>
            <a:r>
              <a:rPr lang="en-IN" sz="2400" b="1" baseline="30000" dirty="0">
                <a:solidFill>
                  <a:srgbClr val="FF0000"/>
                </a:solidFill>
              </a:rPr>
              <a:t>C</a:t>
            </a:r>
            <a:r>
              <a:rPr lang="en-IN" sz="2400" b="1" dirty="0">
                <a:solidFill>
                  <a:srgbClr val="FF0000"/>
                </a:solidFill>
              </a:rPr>
              <a:t>)=0.02) </a:t>
            </a:r>
          </a:p>
          <a:p>
            <a:pPr marL="342900" indent="-342900">
              <a:buAutoNum type="alphaLcParenR"/>
            </a:pPr>
            <a:r>
              <a:rPr lang="en-IN" sz="2400" b="1" dirty="0">
                <a:solidFill>
                  <a:srgbClr val="FF0000"/>
                </a:solidFill>
              </a:rPr>
              <a:t>Identify a set of mutually exclusive and collectively exhaustive events.</a:t>
            </a:r>
          </a:p>
          <a:p>
            <a:pPr marL="342900" indent="-342900">
              <a:buAutoNum type="alphaLcParenR"/>
            </a:pPr>
            <a:r>
              <a:rPr lang="en-IN" sz="2400" b="1" dirty="0">
                <a:solidFill>
                  <a:srgbClr val="FF0000"/>
                </a:solidFill>
              </a:rPr>
              <a:t>Calculate the probabilities of each of the events identified in (a) </a:t>
            </a:r>
          </a:p>
          <a:p>
            <a:pPr marL="342900" indent="-342900">
              <a:buAutoNum type="alphaLcParenR"/>
            </a:pPr>
            <a:r>
              <a:rPr lang="en-IN" sz="2400" b="1" dirty="0">
                <a:solidFill>
                  <a:srgbClr val="FF0000"/>
                </a:solidFill>
              </a:rPr>
              <a:t>What is the probability of a positive test result?</a:t>
            </a:r>
          </a:p>
          <a:p>
            <a:pPr marL="342900" indent="-342900">
              <a:buAutoNum type="alphaLcParenR"/>
            </a:pPr>
            <a:r>
              <a:rPr lang="en-IN" sz="2400" b="1" dirty="0">
                <a:solidFill>
                  <a:srgbClr val="FF0000"/>
                </a:solidFill>
              </a:rPr>
              <a:t>If a person’s test result is positive, what is the probability that he/she has the disease?</a:t>
            </a:r>
          </a:p>
          <a:p>
            <a:endParaRPr lang="en-IN" sz="2400" b="1" dirty="0"/>
          </a:p>
          <a:p>
            <a:r>
              <a:rPr lang="en-IN" sz="2400" b="1" dirty="0">
                <a:solidFill>
                  <a:srgbClr val="00B0F0"/>
                </a:solidFill>
              </a:rPr>
              <a:t>Hint</a:t>
            </a:r>
            <a:r>
              <a:rPr lang="en-IN" sz="2400" b="1" dirty="0"/>
              <a:t>: </a:t>
            </a:r>
            <a:r>
              <a:rPr lang="en-IN" sz="2400" b="1" dirty="0">
                <a:solidFill>
                  <a:srgbClr val="00B050"/>
                </a:solidFill>
              </a:rPr>
              <a:t>Refer to Bayes Theorem</a:t>
            </a:r>
          </a:p>
          <a:p>
            <a:endParaRPr lang="en-IN" b="1" dirty="0"/>
          </a:p>
          <a:p>
            <a:pPr marL="342900" indent="-342900">
              <a:buAutoNum type="alphaLcParenR"/>
            </a:pPr>
            <a:endParaRPr lang="en-IN" b="1" dirty="0"/>
          </a:p>
        </p:txBody>
      </p:sp>
    </p:spTree>
    <p:extLst>
      <p:ext uri="{BB962C8B-B14F-4D97-AF65-F5344CB8AC3E}">
        <p14:creationId xmlns:p14="http://schemas.microsoft.com/office/powerpoint/2010/main" val="24439481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4AFCE-179F-EFF7-9BB3-D6EFD477ED4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A9A232C-7432-699A-F051-A9EAE908AF56}"/>
              </a:ext>
            </a:extLst>
          </p:cNvPr>
          <p:cNvSpPr txBox="1"/>
          <p:nvPr/>
        </p:nvSpPr>
        <p:spPr>
          <a:xfrm>
            <a:off x="673296" y="189536"/>
            <a:ext cx="10572750" cy="7017306"/>
          </a:xfrm>
          <a:prstGeom prst="rect">
            <a:avLst/>
          </a:prstGeom>
          <a:noFill/>
        </p:spPr>
        <p:txBody>
          <a:bodyPr wrap="square" rtlCol="0">
            <a:spAutoFit/>
          </a:bodyPr>
          <a:lstStyle/>
          <a:p>
            <a:r>
              <a:rPr lang="en-IN" b="1" dirty="0">
                <a:solidFill>
                  <a:srgbClr val="FF0000"/>
                </a:solidFill>
                <a:latin typeface="Times New Roman" panose="02020603050405020304" pitchFamily="18" charset="0"/>
                <a:cs typeface="Times New Roman" panose="02020603050405020304" pitchFamily="18" charset="0"/>
              </a:rPr>
              <a:t>4) </a:t>
            </a:r>
            <a:r>
              <a:rPr lang="en-US" b="1" dirty="0">
                <a:solidFill>
                  <a:srgbClr val="FF0000"/>
                </a:solidFill>
                <a:latin typeface="Times New Roman" panose="02020603050405020304" pitchFamily="18" charset="0"/>
                <a:cs typeface="Times New Roman" panose="02020603050405020304" pitchFamily="18" charset="0"/>
              </a:rPr>
              <a:t>The town of Urbana is in the county of Champaign, Illinois, which is located in the plains area of the Midwestern United States. High-wind storms can occur in this area with maximum wind speeds exceeding 60 mph (96 km/h), and occasionally such storms can spawn tornadoes creating even higher wind speeds.</a:t>
            </a:r>
          </a:p>
          <a:p>
            <a:r>
              <a:rPr lang="en-US" b="1" dirty="0">
                <a:solidFill>
                  <a:srgbClr val="FF0000"/>
                </a:solidFill>
                <a:latin typeface="Times New Roman" panose="02020603050405020304" pitchFamily="18" charset="0"/>
                <a:cs typeface="Times New Roman" panose="02020603050405020304" pitchFamily="18" charset="0"/>
              </a:rPr>
              <a:t>Suppose we wish to assess the annual probability of structural damage to residential houses in Urbana, and based on historical data we are able to determine the following information:</a:t>
            </a:r>
          </a:p>
          <a:p>
            <a:r>
              <a:rPr lang="en-US" b="1" dirty="0">
                <a:solidFill>
                  <a:srgbClr val="FF0000"/>
                </a:solidFill>
                <a:latin typeface="Times New Roman" panose="02020603050405020304" pitchFamily="18" charset="0"/>
                <a:cs typeface="Times New Roman" panose="02020603050405020304" pitchFamily="18" charset="0"/>
              </a:rPr>
              <a:t>High-wind storms in the county of Champaign occur about once every other year, and during such a storm the probability that it will be accompanied by tornadoes is 0.25.  The probability that tornadoes occur in the county of Champaign within a year without a high-wind storm is 0.15. </a:t>
            </a:r>
          </a:p>
          <a:p>
            <a:r>
              <a:rPr lang="en-US" b="1" dirty="0">
                <a:solidFill>
                  <a:srgbClr val="FF0000"/>
                </a:solidFill>
                <a:latin typeface="Times New Roman" panose="02020603050405020304" pitchFamily="18" charset="0"/>
                <a:cs typeface="Times New Roman" panose="02020603050405020304" pitchFamily="18" charset="0"/>
              </a:rPr>
              <a:t>Based on engineering calculations, we also determine the following:</a:t>
            </a:r>
          </a:p>
          <a:p>
            <a:r>
              <a:rPr lang="en-US" b="1" dirty="0">
                <a:solidFill>
                  <a:srgbClr val="FF0000"/>
                </a:solidFill>
                <a:latin typeface="Times New Roman" panose="02020603050405020304" pitchFamily="18" charset="0"/>
                <a:cs typeface="Times New Roman" panose="02020603050405020304" pitchFamily="18" charset="0"/>
              </a:rPr>
              <a:t>The probability of severe damage to houses in Urbana during a wind storm (in the absence of tornadoes) is 0.05. </a:t>
            </a:r>
          </a:p>
          <a:p>
            <a:r>
              <a:rPr lang="en-US" b="1" dirty="0">
                <a:solidFill>
                  <a:srgbClr val="FF0000"/>
                </a:solidFill>
                <a:latin typeface="Times New Roman" panose="02020603050405020304" pitchFamily="18" charset="0"/>
                <a:cs typeface="Times New Roman" panose="02020603050405020304" pitchFamily="18" charset="0"/>
              </a:rPr>
              <a:t>However, when tornadoes are spawned in the county but do not strike the town of Urbana, the probability of severe damage to houses is 0.10.  When a tornado strikes the town, the probability of severe damage to one or more houses in Urbana will be certain. </a:t>
            </a:r>
          </a:p>
          <a:p>
            <a:r>
              <a:rPr lang="en-US" b="1" dirty="0">
                <a:solidFill>
                  <a:srgbClr val="FF0000"/>
                </a:solidFill>
                <a:latin typeface="Times New Roman" panose="02020603050405020304" pitchFamily="18" charset="0"/>
                <a:cs typeface="Times New Roman" panose="02020603050405020304" pitchFamily="18" charset="0"/>
              </a:rPr>
              <a:t>We Define the following events:</a:t>
            </a:r>
          </a:p>
          <a:p>
            <a:r>
              <a:rPr lang="en-US" b="1" dirty="0">
                <a:solidFill>
                  <a:srgbClr val="FF0000"/>
                </a:solidFill>
                <a:latin typeface="Times New Roman" panose="02020603050405020304" pitchFamily="18" charset="0"/>
                <a:cs typeface="Times New Roman" panose="02020603050405020304" pitchFamily="18" charset="0"/>
              </a:rPr>
              <a:t>F=severe damage to houses in Urbana;  S=occurrence of a storm in Champaign County; T=occurrence of tornadoes in Champaign County during a storm; H=a tornado striking the town of Urbana </a:t>
            </a:r>
          </a:p>
          <a:p>
            <a:r>
              <a:rPr lang="en-US" b="1" dirty="0">
                <a:solidFill>
                  <a:srgbClr val="FF0000"/>
                </a:solidFill>
                <a:latin typeface="Times New Roman" panose="02020603050405020304" pitchFamily="18" charset="0"/>
                <a:cs typeface="Times New Roman" panose="02020603050405020304" pitchFamily="18" charset="0"/>
              </a:rPr>
              <a:t>Also,</a:t>
            </a:r>
          </a:p>
          <a:p>
            <a:r>
              <a:rPr lang="en-US" b="1" dirty="0">
                <a:solidFill>
                  <a:srgbClr val="FF0000"/>
                </a:solidFill>
                <a:latin typeface="Times New Roman" panose="02020603050405020304" pitchFamily="18" charset="0"/>
                <a:cs typeface="Times New Roman" panose="02020603050405020304" pitchFamily="18" charset="0"/>
              </a:rPr>
              <a:t>P(S)=0.50, P(T∣S)=0.25, P(H∣ST)=0.15 </a:t>
            </a:r>
          </a:p>
          <a:p>
            <a:r>
              <a:rPr lang="en-US" b="1" dirty="0">
                <a:solidFill>
                  <a:srgbClr val="FF0000"/>
                </a:solidFill>
                <a:latin typeface="Times New Roman" panose="02020603050405020304" pitchFamily="18" charset="0"/>
                <a:cs typeface="Times New Roman" panose="02020603050405020304" pitchFamily="18" charset="0"/>
              </a:rPr>
              <a:t>The events STH, </a:t>
            </a:r>
            <a:r>
              <a:rPr lang="en-US" b="1" dirty="0" err="1">
                <a:solidFill>
                  <a:srgbClr val="FF0000"/>
                </a:solidFill>
                <a:latin typeface="Times New Roman" panose="02020603050405020304" pitchFamily="18" charset="0"/>
                <a:cs typeface="Times New Roman" panose="02020603050405020304" pitchFamily="18" charset="0"/>
              </a:rPr>
              <a:t>STH</a:t>
            </a:r>
            <a:r>
              <a:rPr lang="en-US" b="1" baseline="30000" dirty="0" err="1">
                <a:solidFill>
                  <a:srgbClr val="FF0000"/>
                </a:solidFill>
                <a:latin typeface="Times New Roman" panose="02020603050405020304" pitchFamily="18" charset="0"/>
                <a:cs typeface="Times New Roman" panose="02020603050405020304" pitchFamily="18" charset="0"/>
              </a:rPr>
              <a:t>c</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ST</a:t>
            </a:r>
            <a:r>
              <a:rPr lang="en-US" b="1" baseline="30000" dirty="0" err="1">
                <a:solidFill>
                  <a:srgbClr val="FF0000"/>
                </a:solidFill>
                <a:latin typeface="Times New Roman" panose="02020603050405020304" pitchFamily="18" charset="0"/>
                <a:cs typeface="Times New Roman" panose="02020603050405020304" pitchFamily="18" charset="0"/>
              </a:rPr>
              <a:t>c</a:t>
            </a:r>
            <a:r>
              <a:rPr lang="en-US" b="1" dirty="0">
                <a:solidFill>
                  <a:srgbClr val="FF0000"/>
                </a:solidFill>
                <a:latin typeface="Times New Roman" panose="02020603050405020304" pitchFamily="18" charset="0"/>
                <a:cs typeface="Times New Roman" panose="02020603050405020304" pitchFamily="18" charset="0"/>
              </a:rPr>
              <a:t>, and (ST)</a:t>
            </a:r>
            <a:r>
              <a:rPr lang="en-US" b="1" baseline="30000" dirty="0">
                <a:solidFill>
                  <a:srgbClr val="FF0000"/>
                </a:solidFill>
                <a:latin typeface="Times New Roman" panose="02020603050405020304" pitchFamily="18" charset="0"/>
                <a:cs typeface="Times New Roman" panose="02020603050405020304" pitchFamily="18" charset="0"/>
              </a:rPr>
              <a:t>c</a:t>
            </a:r>
            <a:r>
              <a:rPr lang="en-US" b="1" dirty="0">
                <a:solidFill>
                  <a:srgbClr val="FF0000"/>
                </a:solidFill>
                <a:latin typeface="Times New Roman" panose="02020603050405020304" pitchFamily="18" charset="0"/>
                <a:cs typeface="Times New Roman" panose="02020603050405020304" pitchFamily="18" charset="0"/>
              </a:rPr>
              <a:t> are mutually exclusive and collectively exhaustive, whereas </a:t>
            </a:r>
            <a:r>
              <a:rPr lang="en-US" b="1" dirty="0" err="1">
                <a:solidFill>
                  <a:srgbClr val="FF0000"/>
                </a:solidFill>
                <a:latin typeface="Times New Roman" panose="02020603050405020304" pitchFamily="18" charset="0"/>
                <a:cs typeface="Times New Roman" panose="02020603050405020304" pitchFamily="18" charset="0"/>
              </a:rPr>
              <a:t>S</a:t>
            </a:r>
            <a:r>
              <a:rPr lang="en-US" b="1" baseline="30000" dirty="0" err="1">
                <a:solidFill>
                  <a:srgbClr val="FF0000"/>
                </a:solidFill>
                <a:latin typeface="Times New Roman" panose="02020603050405020304" pitchFamily="18" charset="0"/>
                <a:cs typeface="Times New Roman" panose="02020603050405020304" pitchFamily="18" charset="0"/>
              </a:rPr>
              <a:t>c</a:t>
            </a:r>
            <a:r>
              <a:rPr lang="en-US" b="1" dirty="0" err="1">
                <a:solidFill>
                  <a:srgbClr val="FF0000"/>
                </a:solidFill>
                <a:latin typeface="Times New Roman" panose="02020603050405020304" pitchFamily="18" charset="0"/>
                <a:cs typeface="Times New Roman" panose="02020603050405020304" pitchFamily="18" charset="0"/>
              </a:rPr>
              <a:t>T</a:t>
            </a:r>
            <a:r>
              <a:rPr lang="en-US" b="1" dirty="0">
                <a:solidFill>
                  <a:srgbClr val="FF0000"/>
                </a:solidFill>
                <a:latin typeface="Times New Roman" panose="02020603050405020304" pitchFamily="18" charset="0"/>
                <a:cs typeface="Times New Roman" panose="02020603050405020304" pitchFamily="18" charset="0"/>
              </a:rPr>
              <a:t> is a null set.</a:t>
            </a:r>
          </a:p>
          <a:p>
            <a:r>
              <a:rPr lang="en-US" b="1" dirty="0">
                <a:solidFill>
                  <a:srgbClr val="FF0000"/>
                </a:solidFill>
                <a:latin typeface="Times New Roman" panose="02020603050405020304" pitchFamily="18" charset="0"/>
                <a:cs typeface="Times New Roman" panose="02020603050405020304" pitchFamily="18" charset="0"/>
              </a:rPr>
              <a:t>Determine the annual probability of severe structural damage to one or more residential houses in Urbana, P(F).</a:t>
            </a:r>
          </a:p>
          <a:p>
            <a:endParaRPr lang="en-IN"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37067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8EDA87-7EE6-292C-5642-FD0E327E5B65}"/>
              </a:ext>
            </a:extLst>
          </p:cNvPr>
          <p:cNvSpPr txBox="1"/>
          <p:nvPr/>
        </p:nvSpPr>
        <p:spPr>
          <a:xfrm>
            <a:off x="447261" y="357809"/>
            <a:ext cx="11479696" cy="5262979"/>
          </a:xfrm>
          <a:prstGeom prst="rect">
            <a:avLst/>
          </a:prstGeom>
          <a:noFill/>
        </p:spPr>
        <p:txBody>
          <a:bodyPr wrap="square" rtlCol="0">
            <a:spAutoFit/>
          </a:bodyPr>
          <a:lstStyle/>
          <a:p>
            <a:r>
              <a:rPr lang="en-IN" sz="2400" b="1" dirty="0">
                <a:solidFill>
                  <a:srgbClr val="FF0000"/>
                </a:solidFill>
              </a:rPr>
              <a:t>5) An information source generates the symbols at random from a four letter alphabet {</a:t>
            </a:r>
            <a:r>
              <a:rPr lang="en-IN" sz="2400" b="1" dirty="0" err="1">
                <a:solidFill>
                  <a:srgbClr val="FF0000"/>
                </a:solidFill>
              </a:rPr>
              <a:t>a,b,c,d</a:t>
            </a:r>
            <a:r>
              <a:rPr lang="en-IN" sz="2400" b="1" dirty="0">
                <a:solidFill>
                  <a:srgbClr val="FF0000"/>
                </a:solidFill>
              </a:rPr>
              <a:t>} with probabilities P(a)=1/2, P(b)=1/4, P(c)=P(d)=1/8. A coding scheme encodes these symbols into binary codes as follows:</a:t>
            </a:r>
          </a:p>
          <a:p>
            <a:pPr algn="ctr"/>
            <a:r>
              <a:rPr lang="en-IN" sz="2400" b="1" dirty="0">
                <a:solidFill>
                  <a:srgbClr val="FF0000"/>
                </a:solidFill>
              </a:rPr>
              <a:t>a            0</a:t>
            </a:r>
          </a:p>
          <a:p>
            <a:pPr algn="ctr"/>
            <a:r>
              <a:rPr lang="en-IN" sz="2400" b="1" dirty="0">
                <a:solidFill>
                  <a:srgbClr val="FF0000"/>
                </a:solidFill>
              </a:rPr>
              <a:t>b          10</a:t>
            </a:r>
          </a:p>
          <a:p>
            <a:pPr algn="ctr"/>
            <a:r>
              <a:rPr lang="en-IN" sz="2400" b="1" dirty="0">
                <a:solidFill>
                  <a:srgbClr val="FF0000"/>
                </a:solidFill>
              </a:rPr>
              <a:t>c        110</a:t>
            </a:r>
          </a:p>
          <a:p>
            <a:pPr algn="ctr"/>
            <a:r>
              <a:rPr lang="en-IN" sz="2400" b="1" dirty="0">
                <a:solidFill>
                  <a:srgbClr val="FF0000"/>
                </a:solidFill>
              </a:rPr>
              <a:t>d        111</a:t>
            </a:r>
          </a:p>
          <a:p>
            <a:pPr algn="just"/>
            <a:r>
              <a:rPr lang="en-IN" sz="2400" b="1" dirty="0">
                <a:solidFill>
                  <a:srgbClr val="FF0000"/>
                </a:solidFill>
              </a:rPr>
              <a:t>Let X be a random variable denoting the length of the code, that is, the number of binary symbols (bits).</a:t>
            </a:r>
          </a:p>
          <a:p>
            <a:pPr marL="514350" indent="-514350" algn="just">
              <a:buAutoNum type="romanLcParenR"/>
            </a:pPr>
            <a:r>
              <a:rPr lang="en-IN" sz="2400" b="1" dirty="0">
                <a:solidFill>
                  <a:srgbClr val="FF0000"/>
                </a:solidFill>
              </a:rPr>
              <a:t>What is the range of X?</a:t>
            </a:r>
          </a:p>
          <a:p>
            <a:pPr marL="514350" indent="-514350" algn="just">
              <a:buAutoNum type="romanLcParenR"/>
            </a:pPr>
            <a:r>
              <a:rPr lang="en-IN" sz="2400" b="1" dirty="0">
                <a:solidFill>
                  <a:srgbClr val="FF0000"/>
                </a:solidFill>
              </a:rPr>
              <a:t>Find the CDF F(x) and sketch the CDF and pdf of X?</a:t>
            </a:r>
          </a:p>
          <a:p>
            <a:pPr marL="514350" indent="-514350" algn="just">
              <a:buAutoNum type="romanLcParenR"/>
            </a:pPr>
            <a:r>
              <a:rPr lang="en-IN" sz="2400" b="1" dirty="0">
                <a:solidFill>
                  <a:srgbClr val="FF0000"/>
                </a:solidFill>
              </a:rPr>
              <a:t>Assuming that the generations of symbols are independent, find the probabilities of P(X=1), P(X=2), P(X=3) and P(X&gt;3)?</a:t>
            </a:r>
          </a:p>
          <a:p>
            <a:pPr algn="just"/>
            <a:endParaRPr lang="en-IN" sz="2400" b="1" dirty="0">
              <a:solidFill>
                <a:srgbClr val="FF0000"/>
              </a:solidFill>
            </a:endParaRPr>
          </a:p>
        </p:txBody>
      </p:sp>
    </p:spTree>
    <p:extLst>
      <p:ext uri="{BB962C8B-B14F-4D97-AF65-F5344CB8AC3E}">
        <p14:creationId xmlns:p14="http://schemas.microsoft.com/office/powerpoint/2010/main" val="37926002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1338</TotalTime>
  <Words>1141</Words>
  <Application>Microsoft Office PowerPoint</Application>
  <PresentationFormat>Widescreen</PresentationFormat>
  <Paragraphs>53</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Times New Roman</vt:lpstr>
      <vt:lpstr>Office Theme</vt:lpstr>
      <vt:lpstr>Tutorial -2</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Tulasi Kammula</dc:creator>
  <cp:lastModifiedBy>Tulasi Kammula</cp:lastModifiedBy>
  <cp:revision>18</cp:revision>
  <dcterms:created xsi:type="dcterms:W3CDTF">2026-08-02T09:17:44Z</dcterms:created>
  <dcterms:modified xsi:type="dcterms:W3CDTF">2026-08-09T06:54:08Z</dcterms:modified>
</cp:coreProperties>
</file>