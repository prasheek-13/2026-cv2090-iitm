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4" d="100"/>
          <a:sy n="94" d="100"/>
        </p:scale>
        <p:origin x="27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8F457-D384-4666-679F-D8AF2BC450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C9B9-45BE-1530-569C-8347C2822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17A63-35E7-928F-AB9E-A2882085C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DF43B-360B-43C1-B85E-2457031A549B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EE4B2-0CA2-58CC-0D01-5F7FA8CB7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837CA-0948-85E5-C83E-3FFCCAA79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6CF2-39E6-4C62-B9BC-0C8B8448F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595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F94B5-DFEB-1556-8FE0-17E188153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52912-2853-3F1D-945D-2B5E1E336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95163-486F-0E31-43F0-FF30B69B5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DF43B-360B-43C1-B85E-2457031A549B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7670E-5B9F-BCEB-2D15-BFC7D59EE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E5E44-B8A9-9ECC-7163-D1A3176F7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6CF2-39E6-4C62-B9BC-0C8B8448F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405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EFE8B-C819-D164-4091-6056B261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5C3DF-5C46-F656-D686-A1A667E97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0960C-04A1-4CBB-CDE0-406EDB7FF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DF43B-360B-43C1-B85E-2457031A549B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E55FE-34F7-CBF2-F992-0B8F55A36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D2326-9E2A-C8D9-BEC3-DBD7F5EF7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6CF2-39E6-4C62-B9BC-0C8B8448F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631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D5C3D-D1FE-A734-E4DB-44FB02D9C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2697F-E33E-27A1-246F-4FB3129591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35FF18-6863-6DEC-AC16-B965D9A51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34182-6067-5DB5-FA2A-3B45853CE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DF43B-360B-43C1-B85E-2457031A549B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225963-59CC-5DCD-CEFE-E2BAF4DC0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3DE99-C6B9-13B0-4193-8E05FE41E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6CF2-39E6-4C62-B9BC-0C8B8448F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72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CBF6-B5EF-B0B0-D935-7344C17EC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4C6E0-4FDA-2401-B522-EB5A3F1B9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5B018-9F50-8812-C60B-B82458F422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2B823C-8617-1A23-A3EA-3EF992F9F7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FB9CD5-6A06-A871-CB2E-F197292B87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500C51-57DE-AC99-D3BB-3CCC8698C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DF43B-360B-43C1-B85E-2457031A549B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35C9C9-39FE-DCDD-22FE-20C87E30E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FA1725-D524-D099-D5C2-5F8343CA0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6CF2-39E6-4C62-B9BC-0C8B8448F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732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383F9-4D4B-108E-C79A-1280D9C97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351F92-0BD3-3ECF-1616-9DCC3C61C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DF43B-360B-43C1-B85E-2457031A549B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CEE58D-EB8B-F339-9182-61565CF50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143D72-84CA-8C1D-AAE0-51CC0A8E5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6CF2-39E6-4C62-B9BC-0C8B8448F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774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F94321-F83D-05EA-C4AE-FCF6C3EAB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DF43B-360B-43C1-B85E-2457031A549B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1254B3-6412-38A4-3AD2-AD27B847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8865A-A76D-D538-D9AE-AC9F863F6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6CF2-39E6-4C62-B9BC-0C8B8448F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650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622B6-44BE-02B6-E305-9D02B28A5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4AF68-A3E6-AB1B-FC83-601A6DF93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C27B6C-EF28-9A8A-9AAE-2633B4B8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9AE62-D29D-D0C4-D4DA-B10BF04D0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DF43B-360B-43C1-B85E-2457031A549B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02B9B-9AC6-D785-A742-E6195034D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F1320B-31AF-1E68-1086-E19831D62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6CF2-39E6-4C62-B9BC-0C8B8448F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567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C78AB-F21E-1A0C-A8C8-0F8F33006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D859A2-F0C6-8519-D63E-26D17C47D9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9DDC27-CDF4-1E6E-CCB3-1B92BED17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544C70-BEBB-0C87-9D3D-106396F3F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DF43B-360B-43C1-B85E-2457031A549B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72E2F6-5513-7251-D81C-A58E72CA0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9B889-8DED-1E8D-C7BB-C58342664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6CF2-39E6-4C62-B9BC-0C8B8448F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335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F9E7A-3DB6-27F3-6F40-B35A667EC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A2857-B15C-1B31-BAE0-403AB5C05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DFDD7-A282-C246-86BF-34A506532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DF43B-360B-43C1-B85E-2457031A549B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73853-8642-F6D3-EF9C-882D18AC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1C775-466C-9824-4FC3-30EC49B3C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6CF2-39E6-4C62-B9BC-0C8B8448F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412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885980-DDFA-8AFB-8148-0B6AA78C29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2387F5-84D0-7066-029E-9A0BB7983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D4144-245A-682E-6213-4CE0405C4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DF43B-360B-43C1-B85E-2457031A549B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4E3D5-1C92-4A7A-F3AB-4256F9623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00738-1C1A-5C3E-CA12-3431F146E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6CF2-39E6-4C62-B9BC-0C8B8448F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35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805A57-D2C8-25FA-7EAB-630BDE0FD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BFDA6-1742-DC03-88A5-0AA490149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FE5CE-2582-3215-CB0B-A6DF63786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DF43B-360B-43C1-B85E-2457031A549B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A2D01-8F81-16C6-C9FD-C0A6D79B8B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FF26C-3307-982C-F243-53E9C1E810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36CF2-39E6-4C62-B9BC-0C8B8448F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588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BBF5B-8DAC-0E05-041C-D71B53A3B4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Tutorial -1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42C4CB-5C1B-FC89-F6D8-C204BDCD03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Fundamentals of Probability (Set theory, Conditional Probability, Statistical Independence)</a:t>
            </a:r>
          </a:p>
        </p:txBody>
      </p:sp>
    </p:spTree>
    <p:extLst>
      <p:ext uri="{BB962C8B-B14F-4D97-AF65-F5344CB8AC3E}">
        <p14:creationId xmlns:p14="http://schemas.microsoft.com/office/powerpoint/2010/main" val="560616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75FE4E-BE26-7269-0C45-CAC75CDBA9AA}"/>
              </a:ext>
            </a:extLst>
          </p:cNvPr>
          <p:cNvSpPr txBox="1"/>
          <p:nvPr/>
        </p:nvSpPr>
        <p:spPr>
          <a:xfrm>
            <a:off x="1004207" y="351064"/>
            <a:ext cx="1062173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Suppose the travel time between two major cities A and B by air is 6 or 7hrs if the flight is nonstop; if there is one stop, the travel time would be 9, 10 or 11hr. A non-stop flight between A and B would cost $1200, whereas with one stop it would only cost $550. Then, between cities B and C, all the flights are nonstop, requiring 2 or 3 hours at a cost of $300. For a passenger wishing to travel from city A to city C</a:t>
            </a:r>
            <a:b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What is the possibility of sample space of his travel times from A to B? From A to C?</a:t>
            </a:r>
            <a:b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What is the sample space of his travel cost from A to C?</a:t>
            </a:r>
            <a:b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If T = travel time from city A to city C, and S=cost of travel from A to C, what is the sample space of T and S?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932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E19C0A-D944-1B28-4FB2-3768E27C50BE}"/>
              </a:ext>
            </a:extLst>
          </p:cNvPr>
          <p:cNvSpPr txBox="1"/>
          <p:nvPr/>
        </p:nvSpPr>
        <p:spPr>
          <a:xfrm>
            <a:off x="1020536" y="571500"/>
            <a:ext cx="105727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The direction of the prevailing wind at a particular building site is between due East (</a:t>
            </a:r>
            <a:r>
              <a:rPr lang="el-GR" b="1" dirty="0">
                <a:solidFill>
                  <a:srgbClr val="FF0000"/>
                </a:solidFill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θ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r>
              <a:rPr lang="el-GR" b="1" dirty="0">
                <a:solidFill>
                  <a:srgbClr val="FF0000"/>
                </a:solidFill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 ˚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due North (</a:t>
            </a:r>
            <a:r>
              <a:rPr lang="el-GR" b="1" dirty="0">
                <a:solidFill>
                  <a:srgbClr val="FF0000"/>
                </a:solidFill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θ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90</a:t>
            </a:r>
            <a:r>
              <a:rPr lang="el-GR" b="1" dirty="0">
                <a:solidFill>
                  <a:srgbClr val="FF0000"/>
                </a:solidFill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 ˚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The wind speed V can be any value between 0 to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∞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AutoNum type="alphaLcParenR"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Sketch the sample space for wind speed and direction</a:t>
            </a:r>
          </a:p>
          <a:p>
            <a:pPr marL="342900" indent="-342900">
              <a:buAutoNum type="alphaLcParenR"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Denote the events: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E</a:t>
            </a:r>
            <a:r>
              <a:rPr lang="en-I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(V &gt; 35 kph);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E</a:t>
            </a:r>
            <a:r>
              <a:rPr lang="en-I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(15 &lt;V&lt;= 45 kph);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E</a:t>
            </a:r>
            <a:r>
              <a:rPr lang="en-I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l-GR" b="1" dirty="0">
                <a:solidFill>
                  <a:srgbClr val="FF0000"/>
                </a:solidFill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θ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&lt;= 30</a:t>
            </a:r>
            <a:r>
              <a:rPr lang="el-GR" b="1" dirty="0">
                <a:solidFill>
                  <a:srgbClr val="FF0000"/>
                </a:solidFill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 ˚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events E</a:t>
            </a:r>
            <a:r>
              <a:rPr lang="en-I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</a:t>
            </a:r>
            <a:r>
              <a:rPr lang="en-I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</a:t>
            </a:r>
            <a:r>
              <a:rPr lang="en-I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E</a:t>
            </a:r>
            <a:r>
              <a:rPr lang="en-I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within the sample space of part (a)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Use new sketches to identify the following events: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E</a:t>
            </a:r>
            <a:r>
              <a:rPr lang="en-I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b="1" dirty="0">
                <a:solidFill>
                  <a:srgbClr val="FF0000"/>
                </a:solidFill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∩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B=E</a:t>
            </a:r>
            <a:r>
              <a:rPr lang="en-I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b="1" dirty="0">
                <a:solidFill>
                  <a:srgbClr val="FF0000"/>
                </a:solidFill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∪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I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C=E</a:t>
            </a:r>
            <a:r>
              <a:rPr lang="en-I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l-GR" b="1" dirty="0">
                <a:solidFill>
                  <a:srgbClr val="FF0000"/>
                </a:solidFill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 ∩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l-GR" b="1" dirty="0">
                <a:solidFill>
                  <a:srgbClr val="FF0000"/>
                </a:solidFill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 ∩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the events A and B mutually exclusive? How about between the events A and C?</a:t>
            </a:r>
          </a:p>
          <a:p>
            <a:endParaRPr lang="en-IN" dirty="0"/>
          </a:p>
          <a:p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Hint: </a:t>
            </a: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the events (P, Q) to be mutually exclusive :</a:t>
            </a:r>
          </a:p>
          <a:p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P</a:t>
            </a:r>
            <a:r>
              <a:rPr lang="el-GR" b="1" dirty="0">
                <a:solidFill>
                  <a:srgbClr val="00B050"/>
                </a:solidFill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∩</a:t>
            </a: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el-GR" b="1" dirty="0">
                <a:solidFill>
                  <a:srgbClr val="00B050"/>
                </a:solidFill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φ</a:t>
            </a:r>
            <a:endParaRPr lang="en-IN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92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3BD56-CC75-790F-AD1D-FA2FA5438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AAC11A-F795-6DB9-5E82-7A43A5ACA605}"/>
              </a:ext>
            </a:extLst>
          </p:cNvPr>
          <p:cNvSpPr txBox="1"/>
          <p:nvPr/>
        </p:nvSpPr>
        <p:spPr>
          <a:xfrm>
            <a:off x="1020536" y="571500"/>
            <a:ext cx="1057275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A contractor has 2 subcontractors for his excavation work. Experience shows that in 60% of the time, Subcontractor A is available to do work. Whereas subcontractor B is available 80% of the time. Also, the contractor can get at least one of the two contractors 90% of the time. </a:t>
            </a:r>
            <a:b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What is the probability that both subcontractors will be available to do the next job?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ii) If the contractor learned that subcontractor A is not available, what is the probability that subcontractor B is available?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iii) Suppose E</a:t>
            </a:r>
            <a:r>
              <a:rPr lang="en-I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denotes the event that subcontractor A is available, and E</a:t>
            </a:r>
            <a:r>
              <a:rPr lang="en-I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denotes that subcontractor B is available?</a:t>
            </a:r>
          </a:p>
          <a:p>
            <a:pPr marL="342900" indent="-342900">
              <a:buAutoNum type="alphaLcParenR"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E</a:t>
            </a:r>
            <a:r>
              <a:rPr lang="en-I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E</a:t>
            </a:r>
            <a:r>
              <a:rPr lang="en-I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statistically independent?</a:t>
            </a:r>
          </a:p>
          <a:p>
            <a:pPr marL="342900" indent="-342900">
              <a:buAutoNum type="alphaLcParenR"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E</a:t>
            </a:r>
            <a:r>
              <a:rPr lang="en-I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E</a:t>
            </a:r>
            <a:r>
              <a:rPr lang="en-I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mutually exclusive?</a:t>
            </a:r>
          </a:p>
          <a:p>
            <a:pPr marL="342900" indent="-342900">
              <a:buAutoNum type="alphaLcParenR"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E</a:t>
            </a:r>
            <a:r>
              <a:rPr lang="en-I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E</a:t>
            </a:r>
            <a:r>
              <a:rPr lang="en-I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collectively exhaustive?</a:t>
            </a:r>
          </a:p>
          <a:p>
            <a:endParaRPr lang="en-IN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Hint: </a:t>
            </a: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 and B are two mutually exclusive (ME), Collectively exhaustive (CE) and </a:t>
            </a:r>
            <a:r>
              <a:rPr lang="en-IN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Statsistically</a:t>
            </a: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Independent (SI) events</a:t>
            </a:r>
          </a:p>
          <a:p>
            <a:endParaRPr lang="en-IN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lphaLcParenR"/>
            </a:pP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for ME is P(AB)=0</a:t>
            </a:r>
          </a:p>
          <a:p>
            <a:pPr marL="342900" indent="-342900">
              <a:buAutoNum type="alphaLcParenR"/>
            </a:pP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for CE is P(AUB)=P(Sample space) =1</a:t>
            </a:r>
          </a:p>
          <a:p>
            <a:pPr marL="342900" indent="-342900">
              <a:buAutoNum type="alphaLcParenR"/>
            </a:pP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for SI is P(AB)=P(A)*P(B)</a:t>
            </a:r>
          </a:p>
          <a:p>
            <a:endParaRPr lang="en-IN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948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4AFCE-179F-EFF7-9BB3-D6EFD477E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9A232C-7432-699A-F051-A9EAE908AF56}"/>
              </a:ext>
            </a:extLst>
          </p:cNvPr>
          <p:cNvSpPr txBox="1"/>
          <p:nvPr/>
        </p:nvSpPr>
        <p:spPr>
          <a:xfrm>
            <a:off x="1020536" y="571500"/>
            <a:ext cx="105727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 From past experience, it is known that, on average, 10% of welds performed by a particular welder are defective. If this welder is required to do three welds in a day, </a:t>
            </a:r>
          </a:p>
          <a:p>
            <a:pPr marL="342900" indent="-342900">
              <a:buAutoNum type="alphaLcParenR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probability that none of the welds will be defective?</a:t>
            </a:r>
          </a:p>
          <a:p>
            <a:pPr marL="342900" indent="-342900">
              <a:buAutoNum type="alphaLcParenR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probability that exactly two of the welds will be defective?</a:t>
            </a:r>
          </a:p>
          <a:p>
            <a:pPr marL="342900" indent="-342900">
              <a:buAutoNum type="alphaLcParenR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probability that all the welds for a day are defective?</a:t>
            </a:r>
          </a:p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assumed that the condition of each weld is independent of the conditions of the other welds.</a:t>
            </a:r>
          </a:p>
        </p:txBody>
      </p:sp>
    </p:spTree>
    <p:extLst>
      <p:ext uri="{BB962C8B-B14F-4D97-AF65-F5344CB8AC3E}">
        <p14:creationId xmlns:p14="http://schemas.microsoft.com/office/powerpoint/2010/main" val="1773706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681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Tutorial -1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Tulasi Kammula</dc:creator>
  <cp:lastModifiedBy>Tulasi Kammula</cp:lastModifiedBy>
  <cp:revision>5</cp:revision>
  <dcterms:created xsi:type="dcterms:W3CDTF">2026-08-02T09:17:44Z</dcterms:created>
  <dcterms:modified xsi:type="dcterms:W3CDTF">2026-08-02T10:03:22Z</dcterms:modified>
</cp:coreProperties>
</file>