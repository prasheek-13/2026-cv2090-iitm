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F457-D384-4666-679F-D8AF2BC45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C9B9-45BE-1530-569C-8347C2822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17A63-35E7-928F-AB9E-A2882085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EE4B2-0CA2-58CC-0D01-5F7FA8CB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837CA-0948-85E5-C83E-3FFCCAA7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9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94B5-DFEB-1556-8FE0-17E18815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2912-2853-3F1D-945D-2B5E1E336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95163-486F-0E31-43F0-FF30B69B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670E-5B9F-BCEB-2D15-BFC7D59E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5E44-B8A9-9ECC-7163-D1A3176F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40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FE8B-C819-D164-4091-6056B261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5C3DF-5C46-F656-D686-A1A667E9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960C-04A1-4CBB-CDE0-406EDB7F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E55FE-34F7-CBF2-F992-0B8F55A3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D2326-9E2A-C8D9-BEC3-DBD7F5EF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63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5C3D-D1FE-A734-E4DB-44FB02D9C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2697F-E33E-27A1-246F-4FB312959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5FF18-6863-6DEC-AC16-B965D9A51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34182-6067-5DB5-FA2A-3B45853C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25963-59CC-5DCD-CEFE-E2BAF4DC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3DE99-C6B9-13B0-4193-8E05FE41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7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CBF6-B5EF-B0B0-D935-7344C17EC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4C6E0-4FDA-2401-B522-EB5A3F1B9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5B018-9F50-8812-C60B-B82458F42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B823C-8617-1A23-A3EA-3EF992F9F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B9CD5-6A06-A871-CB2E-F197292B8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00C51-57DE-AC99-D3BB-3CCC8698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5C9C9-39FE-DCDD-22FE-20C87E30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A1725-D524-D099-D5C2-5F8343CA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73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83F9-4D4B-108E-C79A-1280D9C9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51F92-0BD3-3ECF-1616-9DCC3C61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EE58D-EB8B-F339-9182-61565CF5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43D72-84CA-8C1D-AAE0-51CC0A8E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77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94321-F83D-05EA-C4AE-FCF6C3EA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254B3-6412-38A4-3AD2-AD27B847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865A-A76D-D538-D9AE-AC9F863F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65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22B6-44BE-02B6-E305-9D02B28A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4AF68-A3E6-AB1B-FC83-601A6DF93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27B6C-EF28-9A8A-9AAE-2633B4B8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9AE62-D29D-D0C4-D4DA-B10BF04D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02B9B-9AC6-D785-A742-E6195034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1320B-31AF-1E68-1086-E19831D6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56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78AB-F21E-1A0C-A8C8-0F8F3300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859A2-F0C6-8519-D63E-26D17C47D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DDC27-CDF4-1E6E-CCB3-1B92BED17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44C70-BEBB-0C87-9D3D-106396F3F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2E2F6-5513-7251-D81C-A58E72CA0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9B889-8DED-1E8D-C7BB-C5834266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33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9E7A-3DB6-27F3-6F40-B35A667E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A2857-B15C-1B31-BAE0-403AB5C05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DFDD7-A282-C246-86BF-34A50653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73853-8642-F6D3-EF9C-882D18AC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1C775-466C-9824-4FC3-30EC49B3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41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85980-DDFA-8AFB-8148-0B6AA78C2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387F5-84D0-7066-029E-9A0BB798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D4144-245A-682E-6213-4CE0405C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4E3D5-1C92-4A7A-F3AB-4256F962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00738-1C1A-5C3E-CA12-3431F146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35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05A57-D2C8-25FA-7EAB-630BDE0F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BFDA6-1742-DC03-88A5-0AA490149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FE5CE-2582-3215-CB0B-A6DF63786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DF43B-360B-43C1-B85E-2457031A549B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A2D01-8F81-16C6-C9FD-C0A6D79B8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F26C-3307-982C-F243-53E9C1E81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36CF2-39E6-4C62-B9BC-0C8B8448F4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58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BF5B-8DAC-0E05-041C-D71B53A3B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Tutorial 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2C4CB-5C1B-FC89-F6D8-C204BDCD0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Random variables and Distributions</a:t>
            </a:r>
          </a:p>
        </p:txBody>
      </p:sp>
    </p:spTree>
    <p:extLst>
      <p:ext uri="{BB962C8B-B14F-4D97-AF65-F5344CB8AC3E}">
        <p14:creationId xmlns:p14="http://schemas.microsoft.com/office/powerpoint/2010/main" val="56061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75FE4E-BE26-7269-0C45-CAC75CDBA9AA}"/>
              </a:ext>
            </a:extLst>
          </p:cNvPr>
          <p:cNvSpPr txBox="1"/>
          <p:nvPr/>
        </p:nvSpPr>
        <p:spPr>
          <a:xfrm>
            <a:off x="674269" y="367933"/>
            <a:ext cx="1062173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A 100-kg load is equally likely to be placed anywhere along the span of a beam of 10 m. If X denotes the position of the load along the beam, X is uniformly distributed in 0 &lt; x ≤ 10.</a:t>
            </a:r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Determine the constant c such that </a:t>
            </a:r>
            <a:r>
              <a:rPr lang="en-I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24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 = c for 0 &lt; x ≤ 10, and hence write down the PDF of X.</a:t>
            </a:r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Determine and sketch the corresponding CDF of X.</a:t>
            </a:r>
          </a:p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Determine the probability that the position of the load will be between 2 m and 5 m on the beam.</a:t>
            </a:r>
          </a:p>
          <a:p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932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B8A5D4-12E3-F279-808F-4F09D24C9900}"/>
                  </a:ext>
                </a:extLst>
              </p:cNvPr>
              <p:cNvSpPr txBox="1"/>
              <p:nvPr/>
            </p:nvSpPr>
            <p:spPr>
              <a:xfrm>
                <a:off x="447261" y="357809"/>
                <a:ext cx="11519452" cy="62049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Suppose a construction company has an experience record showing that 60% of its projects were completed on schedule. If this record prevails, and X is the number of projects completed on schedule among 6 future projects,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Determine the PMF of X and sketch it graphically.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Determine the mean number of projects that will be completed on schedule.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Determine the corresponding variance and standard deviation, and hence the </a:t>
                </a:r>
                <a:r>
                  <a:rPr lang="en-I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 of variation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 Identify the most probable number of projects (among the six) that will be completed on schedule.</a:t>
                </a:r>
              </a:p>
              <a:p>
                <a:endParaRPr lang="en-I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Hints: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Binomial </a:t>
                </a:r>
                <a:r>
                  <a:rPr lang="en-IN" sz="24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rv</a:t>
                </a: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𝑛𝑝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endParaRPr lang="en-IN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𝑛𝑝𝑞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44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IN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c.o.v.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33</m:t>
                    </m:r>
                  </m:oMath>
                </a14:m>
                <a:endParaRPr lang="en-I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 Find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eqArr>
                      </m:e>
                    </m:d>
                    <m:sSup>
                      <m:sSup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largest probability.</a:t>
                </a:r>
              </a:p>
              <a:p>
                <a:endParaRPr lang="en-IN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B8A5D4-12E3-F279-808F-4F09D24C9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61" y="357809"/>
                <a:ext cx="11519452" cy="6204916"/>
              </a:xfrm>
              <a:prstGeom prst="rect">
                <a:avLst/>
              </a:prstGeom>
              <a:blipFill>
                <a:blip r:embed="rId2"/>
                <a:stretch>
                  <a:fillRect l="-794" t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9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BD56-CC75-790F-AD1D-FA2FA543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358D6D-F11E-0019-C651-08BFCB8C64FA}"/>
                  </a:ext>
                </a:extLst>
              </p:cNvPr>
              <p:cNvSpPr txBox="1"/>
              <p:nvPr/>
            </p:nvSpPr>
            <p:spPr>
              <a:xfrm>
                <a:off x="336274" y="-1"/>
                <a:ext cx="11519452" cy="685800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>
                  <a:defRPr sz="2400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IN" sz="2200" dirty="0"/>
                  <a:t>3) A fixed offshore platform is designed for a wave height of 8 m above the mean sea level. This wave height corresponds to a 5% probability of being exceeded per year.</a:t>
                </a:r>
              </a:p>
              <a:p>
                <a:r>
                  <a:rPr lang="en-IN" sz="2200" dirty="0"/>
                  <a:t>(a) Determine the </a:t>
                </a:r>
                <a:r>
                  <a:rPr lang="en-IN" sz="2200" dirty="0">
                    <a:solidFill>
                      <a:srgbClr val="0000FF"/>
                    </a:solidFill>
                  </a:rPr>
                  <a:t>return period of the design wave height</a:t>
                </a:r>
                <a:r>
                  <a:rPr lang="en-IN" sz="2200" dirty="0"/>
                  <a:t>.</a:t>
                </a:r>
              </a:p>
              <a:p>
                <a:r>
                  <a:rPr lang="en-IN" sz="2200" dirty="0"/>
                  <a:t>(b) Determine the probability that the platform will be subjected to the design wave height within the return period.</a:t>
                </a:r>
              </a:p>
              <a:p>
                <a:r>
                  <a:rPr lang="en-IN" sz="2200" dirty="0"/>
                  <a:t>(c) Using the </a:t>
                </a:r>
                <a:r>
                  <a:rPr lang="en-IN" sz="2200" dirty="0">
                    <a:solidFill>
                      <a:srgbClr val="0000FF"/>
                    </a:solidFill>
                  </a:rPr>
                  <a:t>geometric distribution</a:t>
                </a:r>
                <a:r>
                  <a:rPr lang="en-IN" sz="2200" dirty="0"/>
                  <a:t>, determine the probability that the first exceedance of the design wave height will occur after the third year.</a:t>
                </a:r>
              </a:p>
              <a:p>
                <a:r>
                  <a:rPr lang="en-IN" sz="2200" dirty="0"/>
                  <a:t>(d) If the first exceedance of the design wave height occurs after the third year as stipulated in (c), determine the probability that such a first exceedance will occur in the fifth year.</a:t>
                </a:r>
              </a:p>
              <a:p>
                <a:r>
                  <a:rPr lang="en-IN" sz="2200" dirty="0">
                    <a:solidFill>
                      <a:srgbClr val="7030A0"/>
                    </a:solidFill>
                  </a:rPr>
                  <a:t>Hints: </a:t>
                </a:r>
                <a:r>
                  <a:rPr lang="en-IN" sz="2200" b="0" dirty="0">
                    <a:solidFill>
                      <a:srgbClr val="7030A0"/>
                    </a:solidFill>
                  </a:rPr>
                  <a:t>(a)</a:t>
                </a:r>
                <a:r>
                  <a:rPr lang="en-IN" sz="22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22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year</m:t>
                    </m:r>
                  </m:oMath>
                </a14:m>
                <a:r>
                  <a:rPr lang="en-IN" sz="2200" b="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2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22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years</m:t>
                    </m:r>
                  </m:oMath>
                </a14:m>
                <a:endParaRPr lang="en-IN" sz="2200" b="0" dirty="0">
                  <a:solidFill>
                    <a:srgbClr val="7030A0"/>
                  </a:solidFill>
                </a:endParaRPr>
              </a:p>
              <a:p>
                <a:r>
                  <a:rPr lang="en-IN" sz="2200" dirty="0">
                    <a:solidFill>
                      <a:srgbClr val="7030A0"/>
                    </a:solidFill>
                  </a:rPr>
                  <a:t>(b) </a:t>
                </a:r>
                <a:r>
                  <a:rPr lang="en-IN" sz="2200" b="0" dirty="0">
                    <a:solidFill>
                      <a:srgbClr val="7030A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2200" b="0" dirty="0">
                    <a:solidFill>
                      <a:srgbClr val="7030A0"/>
                    </a:solidFill>
                  </a:rPr>
                  <a:t> be the </a:t>
                </a:r>
                <a:r>
                  <a:rPr lang="en-IN" sz="2200" b="0" dirty="0" err="1">
                    <a:solidFill>
                      <a:srgbClr val="7030A0"/>
                    </a:solidFill>
                  </a:rPr>
                  <a:t>rv</a:t>
                </a:r>
                <a:r>
                  <a:rPr lang="en-IN" sz="2200" b="0" dirty="0">
                    <a:solidFill>
                      <a:srgbClr val="7030A0"/>
                    </a:solidFill>
                  </a:rPr>
                  <a:t> representing the number of design wave heights in 20 years. </a:t>
                </a:r>
              </a:p>
              <a:p>
                <a:r>
                  <a:rPr lang="en-US" sz="2200" b="0" dirty="0">
                    <a:solidFill>
                      <a:srgbClr val="7030A0"/>
                    </a:solidFill>
                  </a:rPr>
                  <a:t>Question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200" b="0" dirty="0">
                    <a:solidFill>
                      <a:srgbClr val="7030A0"/>
                    </a:solidFill>
                  </a:rPr>
                  <a:t>? Note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b="0" i="0" dirty="0">
                    <a:solidFill>
                      <a:srgbClr val="0000FF"/>
                    </a:solidFill>
                  </a:rPr>
                  <a:t> (long-term average) for 20 years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200" b="0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f>
                      <m:fPr>
                        <m:ctrlPr>
                          <a:rPr lang="en-US" sz="2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2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2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b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sup>
                            </m:sSup>
                          </m:fName>
                          <m:e>
                            <m:sSup>
                              <m:sSupPr>
                                <m:ctrlPr>
                                  <a:rPr lang="en-US" sz="22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sz="22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func>
                      </m:num>
                      <m:den>
                        <m:r>
                          <a:rPr lang="en-US" sz="2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IN" sz="2200" b="0" dirty="0">
                    <a:solidFill>
                      <a:srgbClr val="7030A0"/>
                    </a:solidFill>
                  </a:rPr>
                  <a:t>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63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IN" sz="2200" b="0" dirty="0">
                  <a:solidFill>
                    <a:srgbClr val="7030A0"/>
                  </a:solidFill>
                </a:endParaRPr>
              </a:p>
              <a:p>
                <a:r>
                  <a:rPr lang="en-IN" sz="2200" b="0" dirty="0">
                    <a:solidFill>
                      <a:srgbClr val="7030A0"/>
                    </a:solidFill>
                  </a:rPr>
                  <a:t>(c) 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sz="2200" b="0" dirty="0">
                    <a:solidFill>
                      <a:srgbClr val="7030A0"/>
                    </a:solidFill>
                  </a:rPr>
                  <a:t> be the </a:t>
                </a:r>
                <a:r>
                  <a:rPr lang="en-IN" sz="2200" b="0" dirty="0" err="1">
                    <a:solidFill>
                      <a:srgbClr val="7030A0"/>
                    </a:solidFill>
                  </a:rPr>
                  <a:t>rv</a:t>
                </a:r>
                <a:r>
                  <a:rPr lang="en-IN" sz="2200" b="0" dirty="0">
                    <a:solidFill>
                      <a:srgbClr val="7030A0"/>
                    </a:solidFill>
                  </a:rPr>
                  <a:t> representing the year of first exceedance of design wave height. Note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sz="2200" b="0" dirty="0">
                    <a:solidFill>
                      <a:srgbClr val="7030A0"/>
                    </a:solidFill>
                  </a:rPr>
                  <a:t> follows a geometric distribution with each event having probability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r>
                  <a:rPr lang="en-IN" sz="2200" b="0" dirty="0">
                    <a:solidFill>
                      <a:srgbClr val="7030A0"/>
                    </a:solidFill>
                  </a:rPr>
                  <a:t>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2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sz="2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N" sz="2200" b="0" dirty="0">
                  <a:solidFill>
                    <a:srgbClr val="7030A0"/>
                  </a:solidFill>
                </a:endParaRPr>
              </a:p>
              <a:p>
                <a:r>
                  <a:rPr lang="en-IN" sz="2200" b="0" dirty="0">
                    <a:solidFill>
                      <a:srgbClr val="7030A0"/>
                    </a:solidFill>
                  </a:rPr>
                  <a:t>(d) Geometric distribution is memoryless. Given no occurrence until 3</a:t>
                </a:r>
                <a:r>
                  <a:rPr lang="en-IN" sz="2200" b="0" baseline="30000" dirty="0">
                    <a:solidFill>
                      <a:srgbClr val="7030A0"/>
                    </a:solidFill>
                  </a:rPr>
                  <a:t>rd</a:t>
                </a:r>
                <a:r>
                  <a:rPr lang="en-IN" sz="2200" b="0" dirty="0">
                    <a:solidFill>
                      <a:srgbClr val="7030A0"/>
                    </a:solidFill>
                  </a:rPr>
                  <a:t> year means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endChr m:val="|"/>
                            <m:ctrlP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2200" b="0" dirty="0">
                    <a:solidFill>
                      <a:srgbClr val="7030A0"/>
                    </a:solidFill>
                  </a:rPr>
                  <a:t>. </a:t>
                </a:r>
              </a:p>
              <a:p>
                <a:r>
                  <a:rPr lang="en-IN" sz="2200" b="0" dirty="0">
                    <a:solidFill>
                      <a:srgbClr val="7030A0"/>
                    </a:solidFill>
                  </a:rPr>
                  <a:t>You can verify this by finding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endChr m:val="|"/>
                            <m:ctrlP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2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2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sz="22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2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den>
                    </m:f>
                    <m:r>
                      <a:rPr lang="en-US" sz="22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IN" sz="22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2200" b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sz="22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2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IN" sz="22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2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2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IN" sz="2200" b="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358D6D-F11E-0019-C651-08BFCB8C6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74" y="-1"/>
                <a:ext cx="11519452" cy="6858001"/>
              </a:xfrm>
              <a:prstGeom prst="rect">
                <a:avLst/>
              </a:prstGeom>
              <a:blipFill>
                <a:blip r:embed="rId2"/>
                <a:stretch>
                  <a:fillRect l="-688" t="-622" r="-582" b="-11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94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AFCE-179F-EFF7-9BB3-D6EFD477E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9A232C-7432-699A-F051-A9EAE908AF56}"/>
                  </a:ext>
                </a:extLst>
              </p:cNvPr>
              <p:cNvSpPr txBox="1"/>
              <p:nvPr/>
            </p:nvSpPr>
            <p:spPr>
              <a:xfrm>
                <a:off x="673296" y="189536"/>
                <a:ext cx="10572750" cy="61947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4) Historical records of severe rainstorms in a town over the last 20 years indicated that there had been an average number of four rainstorms per year. Assuming that the occurrences of rainstorms may be </a:t>
                </a:r>
                <a:r>
                  <a:rPr lang="en-IN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modeled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Poisson process,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Determine the probability that there would not be any rainstorms next year.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Determine the probability of exactly four rainstorms next year.</a:t>
                </a:r>
              </a:p>
              <a:p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 Determine the probability of two or more rainstorms in the next year.</a:t>
                </a:r>
              </a:p>
              <a:p>
                <a:endParaRPr lang="en-I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Hints: 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year</a:t>
                </a:r>
              </a:p>
              <a:p>
                <a:pPr marL="457200" indent="-457200">
                  <a:buAutoNum type="alphaLcParenBoth"/>
                </a:pPr>
                <a:r>
                  <a:rPr lang="en-US" sz="2400" b="0" dirty="0">
                    <a:solidFill>
                      <a:srgbClr val="7030A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sz="2400" b="0" i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sup>
                                </m:sSup>
                              </m:fName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func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!</m:t>
                            </m:r>
                          </m:den>
                        </m:f>
                      </m:e>
                    </m:func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e>
                    </m:func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endParaRPr lang="en-IN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lphaLcParenBoth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func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19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endParaRPr lang="en-IN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lphaLcParenBoth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%−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%=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90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en-IN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9A232C-7432-699A-F051-A9EAE908A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96" y="189536"/>
                <a:ext cx="10572750" cy="6194788"/>
              </a:xfrm>
              <a:prstGeom prst="rect">
                <a:avLst/>
              </a:prstGeom>
              <a:blipFill>
                <a:blip r:embed="rId2"/>
                <a:stretch>
                  <a:fillRect l="-922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706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703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Times New Roman</vt:lpstr>
      <vt:lpstr>Office Theme</vt:lpstr>
      <vt:lpstr>Tutorial -3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Tulasi Kammula</dc:creator>
  <cp:lastModifiedBy>Prakash Singh</cp:lastModifiedBy>
  <cp:revision>33</cp:revision>
  <dcterms:created xsi:type="dcterms:W3CDTF">2026-08-02T09:17:44Z</dcterms:created>
  <dcterms:modified xsi:type="dcterms:W3CDTF">2026-08-26T12:11:37Z</dcterms:modified>
</cp:coreProperties>
</file>