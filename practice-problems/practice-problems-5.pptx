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9" r:id="rId4"/>
    <p:sldId id="263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5" y="1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F3B2-C2B7-16ED-204C-06C04A172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CD286-7F39-B8A1-9ECE-0891B4CA1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267EE-5DDC-D1B8-0023-3375112A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56784-9110-320A-5F6D-F842F2D7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4E26-71B0-475C-C876-F5705EAE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0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7074-0870-CEF5-3D2A-93C246C2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4AD2-6FA5-DB22-C222-B34D88031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18D1-44E7-8BB5-33C0-D6C72C73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767CF-6A24-BF98-9537-DC691D05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45B0D-AAD5-D3B8-C039-8C0AC66D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11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E413-0349-9727-A34A-B7278671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F3B0-0151-54CD-63CF-926EE8EC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5569-0856-1C15-E4C4-F42B7048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89F95-F94D-59D4-416E-96DA86FA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A6DF7-D871-58BE-3D90-3869B310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7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DECF-5747-ECF9-EEB9-C8BD39B5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AC4C-1720-0A42-0B76-7C4F8A674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21CA6-84C5-7933-8C48-1BB0DC514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BD098-50CA-8A3F-6891-1AA6E05D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83A6-5A2C-A811-FB9D-24C2B0DA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BA5DF-4332-B169-A1FF-D95C52B9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7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6BD8-3542-5810-C9CE-A7F6AA17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EA268-B5AB-98C7-63FC-75622800D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6DFAB-DBF2-48DD-778D-649FB8133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F4D85-C5BF-C9A1-B90C-5A75BE34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D04A9-CA07-D850-44F3-2D6038602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F3377A-2CE0-5BD0-944F-813E6C7E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867B1-D197-985A-F6BD-6594237B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FECFF-624F-10CF-5A73-CD42CBF8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D7A0-A6B5-064B-399D-31ECA441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E6D26-0172-4A2F-EBEF-8FE536F3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7BE15-CE73-7B3E-673E-BFAA224B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6F423-E4C8-EF85-A017-FC738A81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09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D97C1-69B1-33EF-74E4-3D55B725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985A9-D7FE-74C9-0DC0-9F046AD7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D4E38-478F-E460-17DD-84C38FCD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81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3B8D-5ECB-CA4F-EDB8-359F4D70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0FB2A-AE07-41CF-3FDB-27762F62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8CE44-C79E-0E30-3823-B10669F52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B51CD-9B27-DEA9-2466-63BD708A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58ABD-F5B6-E106-BB86-5F00CE11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28222-7FC0-5DB8-58E6-C32FD3A3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6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55A3-D8B3-18F1-6A4E-22719D1B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1A2E7-A383-4E53-1989-3DFB55E94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91D16-7AB1-5DE0-9114-ABEF48B53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E583F-55AF-D996-E683-709DC6F6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93F6E-9E9E-8F3A-C9C8-016D069E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AA6E6-ABFF-2BF6-62DF-70536535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7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70F5-9772-BDED-E9D4-7B2B4F68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2451C-B29C-94F8-114F-589BFF9B5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565E-7FB3-7F4C-4DE0-95888FCB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59C5-016A-F2F5-110C-9ED7849E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8AD65-CFF4-30A7-1CD5-7A8F8D6F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3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DCC2A-1FD6-13E8-2CD0-A8CA8C7A7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0D264-9C48-2C43-8CB2-04839551B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DB670-CF27-6406-3FBA-5742854A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0D17B-8848-155A-8691-36D9AE70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2EF35-B27B-2CA5-E75E-35ACFC9C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40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0C391-EEDB-ECAF-E184-9D3255DE0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1DC10-22D1-26B2-140E-1146CD595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3CAE-FDFD-0511-1644-C71C85349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BF9FC-117A-4DEE-A4AD-728129B77F39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AD24-D9B9-9E0A-6C24-00BA1B7CB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ED08-8D06-BB58-A887-CD11CDBCA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2EE1F-52C7-45DF-AB3D-E32CCC76A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8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A0654-ABB1-5901-1B4C-B4725A904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- 5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E136F-8FC5-3E51-063A-B6783A4C1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Random Variables</a:t>
            </a:r>
            <a:endParaRPr lang="en-IN" sz="7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9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1977-0F15-76A4-A750-BE54B152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91299C-2AFD-DA15-5E97-0BF0341A2D96}"/>
              </a:ext>
            </a:extLst>
          </p:cNvPr>
          <p:cNvSpPr txBox="1"/>
          <p:nvPr/>
        </p:nvSpPr>
        <p:spPr>
          <a:xfrm>
            <a:off x="467139" y="357808"/>
            <a:ext cx="11519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If X is a random variable N(</a:t>
            </a:r>
            <a:r>
              <a:rPr lang="el-G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the show that Z=(X-</a:t>
            </a:r>
            <a:r>
              <a:rPr lang="el-G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l-G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standard normal random variable N(0,1)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14FEC8-263B-1F97-DAA4-E69F25697383}"/>
                  </a:ext>
                </a:extLst>
              </p:cNvPr>
              <p:cNvSpPr txBox="1"/>
              <p:nvPr/>
            </p:nvSpPr>
            <p:spPr>
              <a:xfrm>
                <a:off x="1495313" y="2528047"/>
                <a:ext cx="4002827" cy="1534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𝝅𝝈</m:t>
                            </m:r>
                          </m:e>
                        </m:rad>
                      </m:den>
                    </m:f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𝒆𝒙𝒑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den>
                    </m:f>
                  </m:oMath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14FEC8-263B-1F97-DAA4-E69F25697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313" y="2528047"/>
                <a:ext cx="4002827" cy="1534779"/>
              </a:xfrm>
              <a:prstGeom prst="rect">
                <a:avLst/>
              </a:prstGeom>
              <a:blipFill>
                <a:blip r:embed="rId2"/>
                <a:stretch>
                  <a:fillRect l="-1674" b="-6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81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0E06C8-A3F3-023D-D735-79EFF03F520B}"/>
                  </a:ext>
                </a:extLst>
              </p:cNvPr>
              <p:cNvSpPr txBox="1"/>
              <p:nvPr/>
            </p:nvSpPr>
            <p:spPr>
              <a:xfrm>
                <a:off x="467139" y="357808"/>
                <a:ext cx="11519452" cy="2692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Consider a function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&lt;∞,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= 0 otherwise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this function be a joint cumulative distribution of a bivariate random variable (X,Y)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Hint: </a:t>
                </a:r>
                <a:r>
                  <a: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for the properties of </a:t>
                </a:r>
                <a:r>
                  <a:rPr lang="en-IN" sz="2400" b="1" dirty="0" err="1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sz="2400" b="1" baseline="-25000" dirty="0" err="1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</a:t>
                </a:r>
                <a:r>
                  <a: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sz="2400" b="1" dirty="0" err="1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IN" sz="24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IN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0E06C8-A3F3-023D-D735-79EFF03F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39" y="357808"/>
                <a:ext cx="11519452" cy="2692981"/>
              </a:xfrm>
              <a:prstGeom prst="rect">
                <a:avLst/>
              </a:prstGeom>
              <a:blipFill>
                <a:blip r:embed="rId2"/>
                <a:stretch>
                  <a:fillRect l="-847" t="-1814" b="-4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65848B-A6B3-9762-E06D-14B361643741}"/>
                  </a:ext>
                </a:extLst>
              </p:cNvPr>
              <p:cNvSpPr txBox="1"/>
              <p:nvPr/>
            </p:nvSpPr>
            <p:spPr>
              <a:xfrm>
                <a:off x="2065469" y="3668712"/>
                <a:ext cx="8054256" cy="2725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endParaRPr lang="en-US" sz="8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Properties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0</a:t>
                </a:r>
              </a:p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1</a:t>
                </a:r>
              </a:p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2.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0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,−∞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0</a:t>
                </a:r>
              </a:p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3.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𝒏𝒐𝒏𝒏𝒆𝒈𝒂𝒕𝒊𝒗𝒆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𝒏𝒐𝒏𝒅𝒆𝒄𝒓𝒆𝒂𝒔𝒊𝒏𝒈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𝒇𝒖𝒏𝒄𝒕𝒊𝒐𝒏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𝒐𝒇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65848B-A6B3-9762-E06D-14B361643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69" y="3668712"/>
                <a:ext cx="8054256" cy="2725746"/>
              </a:xfrm>
              <a:prstGeom prst="rect">
                <a:avLst/>
              </a:prstGeom>
              <a:blipFill>
                <a:blip r:embed="rId3"/>
                <a:stretch>
                  <a:fillRect l="-1817" b="-3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77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37C3-1BB7-7CEA-5757-3EC46379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0FDB9F-771C-33E7-3AE3-DEBB251DDBFF}"/>
              </a:ext>
            </a:extLst>
          </p:cNvPr>
          <p:cNvSpPr txBox="1"/>
          <p:nvPr/>
        </p:nvSpPr>
        <p:spPr>
          <a:xfrm>
            <a:off x="520839" y="382012"/>
            <a:ext cx="116496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The daily water levels (normalised by the respective full condition) of the two reservoirs A and B are denoted by two random variables X and Y having the following joint PDF: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I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)=(6/5)(x+y^2)    0&lt;x&lt;1; 0&lt;y&lt;1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marginal density function of the daily water level for reservoir A.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reservoir A is half full on a given day, what is the probability that the water level will be more than half full?</a:t>
            </a:r>
          </a:p>
          <a:p>
            <a:pPr marL="342900" indent="-342900">
              <a:buAutoNum type="alphaLcParenR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there any statistical correlation between the water levels in the two reservoirs?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E74687-7BBD-CA5A-C647-5DD77CC61346}"/>
                  </a:ext>
                </a:extLst>
              </p:cNvPr>
              <p:cNvSpPr txBox="1"/>
              <p:nvPr/>
            </p:nvSpPr>
            <p:spPr>
              <a:xfrm>
                <a:off x="2065469" y="3668712"/>
                <a:ext cx="5464884" cy="31059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𝒅𝒚</m:t>
                          </m:r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sub>
                    </m:sSub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den>
                    </m:f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c.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nary>
                          <m:nary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𝒙𝒚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𝒅𝒙𝒅𝒚</m:t>
                            </m:r>
                          </m:e>
                        </m:nary>
                      </m:e>
                    </m:nary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Cov(X,Y) = E(XY)-E(X)E(Y)</a:t>
                </a: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𝑪𝒐𝒗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E74687-7BBD-CA5A-C647-5DD77CC61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69" y="3668712"/>
                <a:ext cx="5464884" cy="3105915"/>
              </a:xfrm>
              <a:prstGeom prst="rect">
                <a:avLst/>
              </a:prstGeom>
              <a:blipFill>
                <a:blip r:embed="rId2"/>
                <a:stretch>
                  <a:fillRect l="-2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12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E5B49-0B07-2160-B3C0-ECCC8005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94684B-0A69-FF9D-58AA-BCC8F548FDC4}"/>
              </a:ext>
            </a:extLst>
          </p:cNvPr>
          <p:cNvSpPr txBox="1"/>
          <p:nvPr/>
        </p:nvSpPr>
        <p:spPr>
          <a:xfrm>
            <a:off x="388596" y="280642"/>
            <a:ext cx="116276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Suppose an engineering variable Y is an exponential function of a random variable X as follows:</a:t>
            </a:r>
          </a:p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800" b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8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X is normally distributed as N(2, 0.4). Derive the PDF of Y and show that it follows a lognormal distribution.</a:t>
            </a:r>
          </a:p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3727D7-713E-A05E-4C5A-A9DFB546F880}"/>
                  </a:ext>
                </a:extLst>
              </p:cNvPr>
              <p:cNvSpPr txBox="1"/>
              <p:nvPr/>
            </p:nvSpPr>
            <p:spPr>
              <a:xfrm>
                <a:off x="1664061" y="3263925"/>
                <a:ext cx="9986471" cy="1948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𝝅𝝈</m:t>
                              </m:r>
                            </m:e>
                          </m:rad>
                        </m:den>
                      </m:f>
                      <m:r>
                        <a:rPr lang="en-US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num>
                                    <m:den>
                                      <m:r>
                                        <a:rPr lang="en-US" sz="24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𝑨𝒑𝒑𝒍𝒚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𝑨𝒏𝒈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𝑻𝒂𝒏𝒈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𝒅𝒚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   where y=g(x)=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3. 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3727D7-713E-A05E-4C5A-A9DFB546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061" y="3263925"/>
                <a:ext cx="9986471" cy="1948803"/>
              </a:xfrm>
              <a:prstGeom prst="rect">
                <a:avLst/>
              </a:prstGeom>
              <a:blipFill>
                <a:blip r:embed="rId2"/>
                <a:stretch>
                  <a:fillRect l="-977" b="-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9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414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 New Roman</vt:lpstr>
      <vt:lpstr>Office Theme</vt:lpstr>
      <vt:lpstr>Tutorial - 5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TULASI KAMMULA</dc:creator>
  <cp:lastModifiedBy>DEBARATI HATI</cp:lastModifiedBy>
  <cp:revision>19</cp:revision>
  <dcterms:created xsi:type="dcterms:W3CDTF">2025-08-03T05:40:00Z</dcterms:created>
  <dcterms:modified xsi:type="dcterms:W3CDTF">2026-09-07T08:13:08Z</dcterms:modified>
</cp:coreProperties>
</file>