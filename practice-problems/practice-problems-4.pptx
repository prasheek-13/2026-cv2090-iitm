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3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0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7F7F1-D778-1B0D-AACB-D81BB56A79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454845-D5D1-AA8D-5598-877EC446A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B70F5-A5CE-E759-D637-54B3A7554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77C8-E3E3-452E-A0FC-B41131DD9333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97FBF9-65D7-DE7E-22FE-D58B57908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FFE9D2-43AD-1C68-5B7E-898CD0DA0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60DC2-F4B5-4FFC-AC2A-24F9BA4E0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9164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882DB-D1DE-48B7-CEC1-F1A99A823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4B828-549B-933B-2D2D-1E9BFCCBFB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5E7F83-2E6F-5241-C5C0-43050640B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77C8-E3E3-452E-A0FC-B41131DD9333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064A1A-8AD3-312E-7FCC-95EC8DE14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EECDB-525E-5906-E6B8-E86F6060D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60DC2-F4B5-4FFC-AC2A-24F9BA4E0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5837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F72BC-A30F-0D47-4A97-7BF387670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2C91A9-7518-5ACC-D55F-FAF32FBC9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FEA2ED-7DDA-5560-7468-9F0DB260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77C8-E3E3-452E-A0FC-B41131DD9333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6458AF-6E57-98BD-C921-FDEA2EBB9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0FC7D9-D5B6-AB8F-6995-761D95640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60DC2-F4B5-4FFC-AC2A-24F9BA4E0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590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AF96D-6593-D463-881D-8CE3486B1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B8558-3824-9B59-B51B-0B15F0E523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951E6-6F9A-BFFC-1C98-BD9170644A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07D516-7181-8FFB-E6EF-EB93E01A1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77C8-E3E3-452E-A0FC-B41131DD9333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05548F-5597-520E-612E-FCA5BD0E2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496A8D-8C72-94BC-A569-F4BF879C0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60DC2-F4B5-4FFC-AC2A-24F9BA4E0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0876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F7259-EA1B-3E3B-3095-86EDE6D04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21BD42-3B97-6E5A-7538-A1EF59214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B876A9-F171-4C30-519D-8C0920AE17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163C4F-CC50-E038-C151-142E6229B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F9A49D-52AF-ADDB-D10A-E19034D935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2FF2FE-9F9B-4175-208D-F33600679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77C8-E3E3-452E-A0FC-B41131DD9333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A20640-3C17-4EA3-D37A-AFE5198B8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F8EB96-F0DB-CFDC-FB5F-CA960CCA6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60DC2-F4B5-4FFC-AC2A-24F9BA4E0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6712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DE38A-6BCF-6C33-59D2-383DC902F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E6DF04-6C51-3233-7CDA-A8F6DF07F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77C8-E3E3-452E-A0FC-B41131DD9333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9D80E2-124B-502A-3381-86453C969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9843D6-7846-5A98-344B-44E307525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60DC2-F4B5-4FFC-AC2A-24F9BA4E0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3556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E3AEAD-8350-F07B-D58F-8F316E16B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77C8-E3E3-452E-A0FC-B41131DD9333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D3A52E-5489-1FFE-E721-BB96F934A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B974A-7FD2-8D60-3217-4558E6712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60DC2-F4B5-4FFC-AC2A-24F9BA4E0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0820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EB4C1-E801-098D-2A1B-3FC3C14B3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8F21A-9850-0CD5-C5D3-3B8652176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64F214-D3A8-6F8F-9F27-3621230158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6D6FEF-4BE1-C19F-2840-3A3D99099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77C8-E3E3-452E-A0FC-B41131DD9333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6D1A61-4226-CB3D-C95F-4C12F7E73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376957-419B-5401-CDB3-88BC8AC2A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60DC2-F4B5-4FFC-AC2A-24F9BA4E0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4983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98B03-7643-E123-166E-559F15C68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98804B-1229-457D-1C81-ED9AC925D7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91FBB0-6E3D-96A4-9A47-8E496D3EA7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87DE1C-C3B6-1F2F-ED67-76C0AFD29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77C8-E3E3-452E-A0FC-B41131DD9333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974C57-6FEC-9669-FA0C-6B89F8E8C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8B9FA8-A140-F230-8636-77313D6A8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60DC2-F4B5-4FFC-AC2A-24F9BA4E0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537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AADFE-9E00-0177-9EEE-D4AC36136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E3FC52-C6A4-ABE6-11B3-0BAD9A9219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1C62C7-6840-8899-280B-9B87E037F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77C8-E3E3-452E-A0FC-B41131DD9333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65DE83-E7EB-D31C-C210-9F865ADED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4DE92-0777-B090-2C9B-D915DA5C1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60DC2-F4B5-4FFC-AC2A-24F9BA4E0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4316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FD32BB-DB0B-6515-E1A7-5A47558361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63F099-6EBD-1686-E8DD-806F2DAE2A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108BC-E64E-D9CF-5FDC-35FA90AB2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77C8-E3E3-452E-A0FC-B41131DD9333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643AF5-32ED-39E2-B36D-656505257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B2BA16-6B9B-AF26-0215-4C0C649A6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60DC2-F4B5-4FFC-AC2A-24F9BA4E0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6537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D3660A-BD3D-AA0E-AD78-1202ECC89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40AB8F-C5F4-6B8F-C8E5-ECA80E4111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C990AB-6E46-C0A4-8D95-25B0F101F0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3177C8-E3E3-452E-A0FC-B41131DD9333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C9ECE7-F664-62E0-0524-10D898A16F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77E46-4AB4-CD34-C930-852D4C2CF4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560DC2-F4B5-4FFC-AC2A-24F9BA4E0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005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768BE-CF57-E140-3AD3-3BC7F2769C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Tutorial - 4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1BBFD6-AEF5-7CE2-61B3-CDD9A409E9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Random Variables and Distributions (</a:t>
            </a:r>
            <a:r>
              <a:rPr lang="en-US" dirty="0" err="1">
                <a:solidFill>
                  <a:srgbClr val="FF0000"/>
                </a:solidFill>
              </a:rPr>
              <a:t>contd</a:t>
            </a:r>
            <a:r>
              <a:rPr lang="en-US" dirty="0">
                <a:solidFill>
                  <a:srgbClr val="FF0000"/>
                </a:solidFill>
              </a:rPr>
              <a:t>…)</a:t>
            </a:r>
          </a:p>
          <a:p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9827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0E8AB29-6654-6BC2-0881-FA4E377EE9F5}"/>
                  </a:ext>
                </a:extLst>
              </p:cNvPr>
              <p:cNvSpPr txBox="1"/>
              <p:nvPr/>
            </p:nvSpPr>
            <p:spPr>
              <a:xfrm>
                <a:off x="578280" y="335285"/>
                <a:ext cx="11519452" cy="17595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b="1" dirty="0">
                    <a:solidFill>
                      <a:srgbClr val="FF0000"/>
                    </a:solidFill>
                  </a:rPr>
                  <a:t>1) Show that the probability density function of a normal random variable X given by Eq.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IN" sz="2400" b="1" i="1" baseline="-250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IN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IN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ctrlPr>
                            <a:rPr lang="en-I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IN" sz="24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  <m:r>
                                    <a:rPr lang="en-IN" sz="24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𝝅</m:t>
                                  </m:r>
                                </m:e>
                              </m:rad>
                              <m:r>
                                <a:rPr lang="en-IN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𝝈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IN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IN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IN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−((</m:t>
                              </m:r>
                              <m:r>
                                <a:rPr lang="en-IN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IN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  <m:r>
                                <a:rPr lang="en-IN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)/√</m:t>
                              </m:r>
                              <m:r>
                                <a:rPr lang="en-IN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IN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𝝈</m:t>
                              </m:r>
                              <m:r>
                                <a:rPr lang="en-IN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 </m:t>
                              </m:r>
                            </m:sup>
                          </m:sSup>
                        </m:e>
                        <m:sup>
                          <m:r>
                            <a:rPr lang="en-I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IN" sz="2400" b="1" dirty="0">
                  <a:solidFill>
                    <a:srgbClr val="FF0000"/>
                  </a:solidFill>
                </a:endParaRPr>
              </a:p>
              <a:p>
                <a:r>
                  <a:rPr lang="en-IN" sz="2400" b="1" dirty="0">
                    <a:solidFill>
                      <a:srgbClr val="FF0000"/>
                    </a:solidFill>
                  </a:rPr>
                  <a:t>Satisfies the equation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I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I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I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  <m:r>
                          <a:rPr lang="en-IN" sz="2400" b="1" i="1" baseline="-250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d>
                          <m:dPr>
                            <m:ctrlPr>
                              <a:rPr lang="en-IN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I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𝒅𝒙</m:t>
                        </m:r>
                      </m:e>
                    </m:nary>
                  </m:oMath>
                </a14:m>
                <a:r>
                  <a:rPr lang="en-IN" sz="2400" b="1" dirty="0">
                    <a:solidFill>
                      <a:srgbClr val="FF0000"/>
                    </a:solidFill>
                  </a:rPr>
                  <a:t> = 1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0E8AB29-6654-6BC2-0881-FA4E377EE9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280" y="335285"/>
                <a:ext cx="11519452" cy="1759521"/>
              </a:xfrm>
              <a:prstGeom prst="rect">
                <a:avLst/>
              </a:prstGeom>
              <a:blipFill>
                <a:blip r:embed="rId2"/>
                <a:stretch>
                  <a:fillRect l="-847" t="-2768" b="-41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ABF269F-14D2-F673-3DE4-B87E12EA13EF}"/>
                  </a:ext>
                </a:extLst>
              </p:cNvPr>
              <p:cNvSpPr txBox="1"/>
              <p:nvPr/>
            </p:nvSpPr>
            <p:spPr>
              <a:xfrm>
                <a:off x="2325624" y="2865991"/>
                <a:ext cx="8025384" cy="22315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lphaLcPeriod"/>
                </a:pPr>
                <a:r>
                  <a:rPr lang="en-US" sz="2000" b="1" dirty="0">
                    <a:solidFill>
                      <a:schemeClr val="accent6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Substitute f(x) in the equation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I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I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I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  <m:r>
                          <a:rPr lang="en-IN" sz="2000" b="1" i="1" baseline="-2500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d>
                          <m:dPr>
                            <m:ctrlPr>
                              <a:rPr lang="en-IN" sz="20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0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I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𝒅𝒙</m:t>
                        </m:r>
                      </m:e>
                    </m:nary>
                  </m:oMath>
                </a14:m>
                <a:r>
                  <a:rPr lang="en-IN" sz="2000" b="1" dirty="0">
                    <a:solidFill>
                      <a:schemeClr val="accent6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= 1</a:t>
                </a:r>
              </a:p>
              <a:p>
                <a:pPr marL="342900" indent="-342900">
                  <a:buAutoNum type="alphaLcPeriod"/>
                </a:pPr>
                <a:r>
                  <a:rPr lang="en-IN" sz="2000" b="1" dirty="0">
                    <a:solidFill>
                      <a:schemeClr val="accent6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Let y = </a:t>
                </a:r>
                <a14:m>
                  <m:oMath xmlns:m="http://schemas.openxmlformats.org/officeDocument/2006/math">
                    <m:r>
                      <a:rPr lang="en-I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I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en-I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I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𝝁</m:t>
                    </m:r>
                    <m:r>
                      <a:rPr lang="en-I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)/√</m:t>
                    </m:r>
                    <m:r>
                      <a:rPr lang="en-I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en-I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𝝈</m:t>
                    </m:r>
                  </m:oMath>
                </a14:m>
                <a:endParaRPr lang="en-IN" sz="2000" b="1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AutoNum type="alphaLcPeriod"/>
                </a:pPr>
                <a:r>
                  <a:rPr lang="en-IN" sz="2000" b="1" dirty="0">
                    <a:solidFill>
                      <a:schemeClr val="accent6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Take I =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I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I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IN" sz="20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en-IN" sz="2000" b="1" i="1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sz="2000" b="1" i="1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𝒆</m:t>
                                </m:r>
                              </m:e>
                              <m:sup>
                                <m:r>
                                  <a:rPr lang="en-US" sz="2000" b="1" i="1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1" i="1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IN" sz="2000" b="1" i="1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sup>
                            </m:sSup>
                          </m:e>
                          <m:sup>
                            <m:r>
                              <a:rPr lang="en-US" sz="20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𝒅𝒚</m:t>
                        </m:r>
                      </m:e>
                    </m:nary>
                  </m:oMath>
                </a14:m>
                <a:endParaRPr lang="en-IN" sz="2000" b="1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AutoNum type="alphaLcPeriod"/>
                </a:pPr>
                <a:r>
                  <a:rPr lang="en-IN" sz="2000" b="1" dirty="0">
                    <a:solidFill>
                      <a:schemeClr val="accent6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Take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0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  <m:sup>
                        <m: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=(</m:t>
                    </m:r>
                    <m:nary>
                      <m:naryPr>
                        <m:ctrlPr>
                          <a:rPr lang="en-I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I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IN" sz="20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en-IN" sz="2000" b="1" i="1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sz="2000" b="1" i="1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𝒆</m:t>
                                </m:r>
                              </m:e>
                              <m:sup>
                                <m:r>
                                  <a:rPr lang="en-US" sz="2000" b="1" i="1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1" i="1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IN" sz="2000" b="1" i="1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sup>
                            </m:sSup>
                          </m:e>
                          <m:sup>
                            <m:r>
                              <a:rPr lang="en-US" sz="20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𝒅𝒚</m:t>
                        </m:r>
                        <m: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 (</m:t>
                        </m:r>
                        <m:nary>
                          <m:naryPr>
                            <m:ctrlPr>
                              <a:rPr lang="en-IN" sz="20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IN" sz="20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0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sub>
                          <m:sup>
                            <m:r>
                              <a:rPr lang="en-IN" sz="20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IN" sz="2000" b="1" i="1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p>
                                  <m:sSupPr>
                                    <m:ctrlPr>
                                      <a:rPr lang="en-IN" sz="2000" b="1" i="1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2000" b="1" i="1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p>
                                    <m:r>
                                      <a:rPr lang="en-US" sz="2000" b="1" i="1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0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𝒙</m:t>
                                    </m:r>
                                  </m:sup>
                                </m:sSup>
                              </m:e>
                              <m:sup>
                                <m:r>
                                  <a:rPr lang="en-US" sz="2000" b="1" i="1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sz="20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𝒅</m:t>
                            </m:r>
                            <m:r>
                              <a:rPr lang="en-US" sz="20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</m:nary>
                        <m: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IN" sz="2000" b="1" dirty="0">
                    <a:solidFill>
                      <a:schemeClr val="accent6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marL="342900" indent="-342900">
                  <a:buAutoNum type="alphaLcPeriod"/>
                </a:pPr>
                <a:r>
                  <a:rPr lang="en-IN" sz="2000" b="1" dirty="0">
                    <a:solidFill>
                      <a:schemeClr val="accent6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Convert it to polar coordinate: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p>
                        <m: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IN" sz="2000" b="1" dirty="0">
                    <a:solidFill>
                      <a:schemeClr val="accent6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integrate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p>
                        <m:r>
                          <a:rPr lang="en-US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IN" sz="2000" b="1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AutoNum type="alphaLcPeriod"/>
                </a:pPr>
                <a:r>
                  <a:rPr lang="en-IN" sz="2000" b="1" dirty="0">
                    <a:solidFill>
                      <a:schemeClr val="accent6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Find I.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ABF269F-14D2-F673-3DE4-B87E12EA13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5624" y="2865991"/>
                <a:ext cx="8025384" cy="2231573"/>
              </a:xfrm>
              <a:prstGeom prst="rect">
                <a:avLst/>
              </a:prstGeom>
              <a:blipFill>
                <a:blip r:embed="rId3"/>
                <a:stretch>
                  <a:fillRect l="-684" t="-26776" b="-114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9301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DABD545-6323-8466-95D6-5B492720DEE9}"/>
                  </a:ext>
                </a:extLst>
              </p:cNvPr>
              <p:cNvSpPr txBox="1"/>
              <p:nvPr/>
            </p:nvSpPr>
            <p:spPr>
              <a:xfrm>
                <a:off x="395926" y="537328"/>
                <a:ext cx="11510128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2) The time </a:t>
                </a:r>
                <a14:m>
                  <m:oMath xmlns:m="http://schemas.openxmlformats.org/officeDocument/2006/math">
                    <m:r>
                      <a:rPr lang="en-IN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en-IN" sz="2400" b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between breakdowns of a major piece of equipment on an oil platform follows a </a:t>
                </a:r>
                <a:r>
                  <a:rPr lang="en-IN" sz="24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lognormal distribution </a:t>
                </a:r>
                <a:r>
                  <a:rPr lang="en-I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a median of 6 months and a coefficient of variation (</a:t>
                </a:r>
                <a:r>
                  <a:rPr lang="en-IN" sz="24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c.o.v.</a:t>
                </a:r>
                <a:r>
                  <a:rPr lang="en-I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of 0.30.</a:t>
                </a:r>
              </a:p>
              <a:p>
                <a:r>
                  <a:rPr lang="en-I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ensure a 95% probability that the equipment remains operational at any time, determine the required interval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ar-AE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𝒐</m:t>
                        </m:r>
                      </m:sub>
                    </m:sSub>
                  </m:oMath>
                </a14:m>
                <a:r>
                  <a:rPr lang="en-I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 between scheduled inspections and repairs.</a:t>
                </a:r>
              </a:p>
              <a:p>
                <a:endParaRPr lang="en-IN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400" b="1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Hint: </a:t>
                </a:r>
                <a:r>
                  <a:rPr lang="en-IN" sz="24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X is a lognormal variable with parameters </a:t>
                </a:r>
                <a:r>
                  <a:rPr lang="en-US" sz="24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2400" b="1" baseline="-250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sz="24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sz="2400" b="1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Yu Gothic" panose="020B0400000000000000" pitchFamily="34" charset="-128"/>
                    <a:cs typeface="Times New Roman" panose="02020603050405020304" pitchFamily="18" charset="0"/>
                  </a:rPr>
                  <a:t> </a:t>
                </a:r>
                <a:r>
                  <a:rPr lang="en-US" sz="24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Yu Gothic" panose="020B0400000000000000" pitchFamily="34" charset="-128"/>
                    <a:cs typeface="Times New Roman" panose="02020603050405020304" pitchFamily="18" charset="0"/>
                  </a:rPr>
                  <a:t>δ</a:t>
                </a:r>
                <a:r>
                  <a:rPr lang="en-US" sz="2400" b="1" baseline="-250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Yu Gothic" panose="020B0400000000000000" pitchFamily="34" charset="-128"/>
                    <a:cs typeface="Times New Roman" panose="02020603050405020304" pitchFamily="18" charset="0"/>
                  </a:rPr>
                  <a:t>x</a:t>
                </a:r>
                <a:endParaRPr lang="en-US" sz="2400" b="1" baseline="-25000" dirty="0">
                  <a:solidFill>
                    <a:srgbClr val="00B050"/>
                  </a:solidFill>
                  <a:latin typeface="Times New Roman" panose="02020603050405020304" pitchFamily="18" charset="0"/>
                  <a:ea typeface="Yu Gothic" panose="020B0400000000000000" pitchFamily="34" charset="-128"/>
                  <a:cs typeface="Times New Roman" panose="02020603050405020304" pitchFamily="18" charset="0"/>
                </a:endParaRPr>
              </a:p>
              <a:p>
                <a:r>
                  <a:rPr lang="en-US" sz="2400" b="1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Yu Gothic" panose="020B0400000000000000" pitchFamily="34" charset="-128"/>
                    <a:cs typeface="Times New Roman" panose="02020603050405020304" pitchFamily="18" charset="0"/>
                  </a:rPr>
                  <a:t>Then ln(X)~N(</a:t>
                </a:r>
                <a:r>
                  <a:rPr lang="el-GR" sz="24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λ</a:t>
                </a:r>
                <a:r>
                  <a:rPr lang="en-US" sz="24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l-GR" sz="2400" b="1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Yu Gothic" panose="020B0400000000000000" pitchFamily="34" charset="-128"/>
                    <a:cs typeface="Times New Roman" panose="02020603050405020304" pitchFamily="18" charset="0"/>
                  </a:rPr>
                  <a:t>ζ</a:t>
                </a:r>
                <a:r>
                  <a:rPr lang="en-US" sz="2400" b="1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Yu Gothic" panose="020B0400000000000000" pitchFamily="34" charset="-128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el-GR" sz="24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λ</a:t>
                </a:r>
                <a:r>
                  <a:rPr lang="en-US" sz="24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=ln(</a:t>
                </a:r>
                <a:r>
                  <a:rPr lang="en-US" sz="24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2400" b="1" baseline="-250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sz="24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el-GR" sz="2400" b="1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Yu Gothic" panose="020B0400000000000000" pitchFamily="34" charset="-128"/>
                    <a:cs typeface="Times New Roman" panose="02020603050405020304" pitchFamily="18" charset="0"/>
                  </a:rPr>
                  <a:t>ζ</a:t>
                </a:r>
                <a:r>
                  <a:rPr lang="en-US" sz="2400" b="1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Yu Gothic" panose="020B0400000000000000" pitchFamily="34" charset="-128"/>
                    <a:cs typeface="Times New Roman" panose="02020603050405020304" pitchFamily="18" charset="0"/>
                  </a:rPr>
                  <a:t>= ln(1+ </a:t>
                </a:r>
                <a:r>
                  <a:rPr lang="en-US" sz="24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Yu Gothic" panose="020B0400000000000000" pitchFamily="34" charset="-128"/>
                    <a:cs typeface="Times New Roman" panose="02020603050405020304" pitchFamily="18" charset="0"/>
                  </a:rPr>
                  <a:t>δ</a:t>
                </a:r>
                <a:r>
                  <a:rPr lang="en-US" sz="2400" b="1" baseline="-250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Yu Gothic" panose="020B0400000000000000" pitchFamily="34" charset="-128"/>
                    <a:cs typeface="Times New Roman" panose="02020603050405020304" pitchFamily="18" charset="0"/>
                  </a:rPr>
                  <a:t>x</a:t>
                </a:r>
                <a:r>
                  <a:rPr lang="en-US" sz="2400" b="1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Yu Gothic" panose="020B0400000000000000" pitchFamily="34" charset="-128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DABD545-6323-8466-95D6-5B492720DE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926" y="537328"/>
                <a:ext cx="11510128" cy="3785652"/>
              </a:xfrm>
              <a:prstGeom prst="rect">
                <a:avLst/>
              </a:prstGeom>
              <a:blipFill>
                <a:blip r:embed="rId2"/>
                <a:stretch>
                  <a:fillRect l="-847" t="-1288" b="-27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4180BF0-8840-B2F1-A15D-14388081D309}"/>
                  </a:ext>
                </a:extLst>
              </p:cNvPr>
              <p:cNvSpPr txBox="1"/>
              <p:nvPr/>
            </p:nvSpPr>
            <p:spPr>
              <a:xfrm>
                <a:off x="3286690" y="4089099"/>
                <a:ext cx="8025384" cy="1532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lphaLcPeriod"/>
                </a:pPr>
                <a:r>
                  <a:rPr lang="en-US" sz="2000" b="1" dirty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 </a:t>
                </a:r>
                <a:r>
                  <a:rPr lang="el-GR" sz="2000" b="1" dirty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λ</a:t>
                </a:r>
                <a:r>
                  <a:rPr lang="en-US" sz="2000" b="1" dirty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=ln(</a:t>
                </a:r>
                <a:r>
                  <a:rPr lang="en-US" sz="2000" b="1" dirty="0" err="1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2000" b="1" baseline="-25000" dirty="0" err="1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sz="2000" b="1" dirty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342900" indent="-342900">
                  <a:buAutoNum type="alphaLcPeriod"/>
                </a:pPr>
                <a:r>
                  <a:rPr lang="en-US" sz="2000" b="1" dirty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pitchFamily="18" charset="0"/>
                    <a:ea typeface="Yu Gothic" panose="020B0400000000000000" pitchFamily="34" charset="-128"/>
                    <a:cs typeface="Times New Roman" panose="02020603050405020304" pitchFamily="18" charset="0"/>
                  </a:rPr>
                  <a:t>Find </a:t>
                </a:r>
                <a:r>
                  <a:rPr lang="el-GR" sz="2000" b="1" dirty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pitchFamily="18" charset="0"/>
                    <a:ea typeface="Yu Gothic" panose="020B0400000000000000" pitchFamily="34" charset="-128"/>
                    <a:cs typeface="Times New Roman" panose="02020603050405020304" pitchFamily="18" charset="0"/>
                  </a:rPr>
                  <a:t>ζ</a:t>
                </a:r>
                <a:r>
                  <a:rPr lang="en-US" sz="2000" b="1" dirty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pitchFamily="18" charset="0"/>
                    <a:ea typeface="Yu Gothic" panose="020B0400000000000000" pitchFamily="34" charset="-128"/>
                    <a:cs typeface="Times New Roman" panose="02020603050405020304" pitchFamily="18" charset="0"/>
                  </a:rPr>
                  <a:t>= ln(1+ </a:t>
                </a:r>
                <a:r>
                  <a:rPr lang="en-US" sz="2000" b="1" dirty="0" err="1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pitchFamily="18" charset="0"/>
                    <a:ea typeface="Yu Gothic" panose="020B0400000000000000" pitchFamily="34" charset="-128"/>
                    <a:cs typeface="Times New Roman" panose="02020603050405020304" pitchFamily="18" charset="0"/>
                  </a:rPr>
                  <a:t>δ</a:t>
                </a:r>
                <a:r>
                  <a:rPr lang="en-US" sz="2000" b="1" baseline="-25000" dirty="0" err="1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pitchFamily="18" charset="0"/>
                    <a:ea typeface="Yu Gothic" panose="020B0400000000000000" pitchFamily="34" charset="-128"/>
                    <a:cs typeface="Times New Roman" panose="02020603050405020304" pitchFamily="18" charset="0"/>
                  </a:rPr>
                  <a:t>x</a:t>
                </a:r>
                <a:r>
                  <a:rPr lang="en-US" sz="2000" b="1" dirty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pitchFamily="18" charset="0"/>
                    <a:ea typeface="Yu Gothic" panose="020B0400000000000000" pitchFamily="34" charset="-128"/>
                    <a:cs typeface="Times New Roman" panose="02020603050405020304" pitchFamily="18" charset="0"/>
                  </a:rPr>
                  <a:t>)</a:t>
                </a:r>
              </a:p>
              <a:p>
                <a:pPr marL="342900" indent="-342900">
                  <a:buAutoNum type="alphaLcPeriod"/>
                </a:pPr>
                <a:r>
                  <a:rPr lang="en-US" sz="2000" b="1" dirty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pitchFamily="18" charset="0"/>
                    <a:ea typeface="Yu Gothic" panose="020B0400000000000000" pitchFamily="34" charset="-128"/>
                    <a:cs typeface="Times New Roman" panose="02020603050405020304" pitchFamily="18" charset="0"/>
                  </a:rPr>
                  <a:t>Find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1" i="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Yu Gothic" panose="020B0400000000000000" pitchFamily="34" charset="-128"/>
                        <a:cs typeface="Arial" panose="020B0604020202020204" pitchFamily="34" charset="0"/>
                      </a:rPr>
                      <m:t>P</m:t>
                    </m:r>
                    <m:r>
                      <m:rPr>
                        <m:nor/>
                      </m:rPr>
                      <a:rPr lang="en-US" sz="2000" b="1" i="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Yu Gothic" panose="020B0400000000000000" pitchFamily="34" charset="-128"/>
                        <a:cs typeface="Arial" panose="020B0604020202020204" pitchFamily="34" charset="0"/>
                      </a:rPr>
                      <m:t>(</m:t>
                    </m:r>
                    <m:r>
                      <m:rPr>
                        <m:nor/>
                      </m:rPr>
                      <a:rPr lang="en-US" sz="2000" b="1" i="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Yu Gothic" panose="020B0400000000000000" pitchFamily="34" charset="-128"/>
                        <a:cs typeface="Arial" panose="020B0604020202020204" pitchFamily="34" charset="0"/>
                      </a:rPr>
                      <m:t>T</m:t>
                    </m:r>
                    <m:r>
                      <a:rPr lang="en-US" sz="2000" b="1" i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Yu Gothic" panose="020B0400000000000000" pitchFamily="34" charset="-128"/>
                        <a:cs typeface="Arial" panose="020B0604020202020204" pitchFamily="34" charset="0"/>
                      </a:rPr>
                      <m:t>≤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Arial" panose="020B0604020202020204" pitchFamily="34" charset="0"/>
                          </a:rPr>
                          <m:t>𝒕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Arial" panose="020B0604020202020204" pitchFamily="34" charset="0"/>
                          </a:rPr>
                          <m:t>𝟎</m:t>
                        </m:r>
                      </m:sub>
                    </m:sSub>
                    <m:r>
                      <a:rPr lang="en-US" sz="2000" b="1" i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Yu Gothic" panose="020B0400000000000000" pitchFamily="34" charset="-128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en-US" sz="2000" b="1" dirty="0">
                  <a:solidFill>
                    <a:schemeClr val="accent6">
                      <a:lumMod val="50000"/>
                    </a:schemeClr>
                  </a:solidFill>
                  <a:latin typeface="Times New Roman" panose="02020603050405020304" pitchFamily="18" charset="0"/>
                  <a:ea typeface="Yu Gothic" panose="020B0400000000000000" pitchFamily="34" charset="-128"/>
                  <a:cs typeface="Times New Roman" panose="02020603050405020304" pitchFamily="18" charset="0"/>
                </a:endParaRPr>
              </a:p>
              <a:p>
                <a:pPr marL="342900" indent="-342900">
                  <a:buAutoNum type="alphaLcPeriod"/>
                </a:pPr>
                <a:r>
                  <a:rPr lang="en-US" sz="2000" b="1" dirty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pitchFamily="18" charset="0"/>
                    <a:ea typeface="Yu Gothic" panose="020B0400000000000000" pitchFamily="34" charset="-128"/>
                    <a:cs typeface="Times New Roman" panose="02020603050405020304" pitchFamily="18" charset="0"/>
                  </a:rPr>
                  <a:t>Solve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  <m:t>𝒕</m:t>
                        </m:r>
                      </m:e>
                      <m:sub>
                        <m:r>
                          <a:rPr lang="en-US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000" b="1" dirty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pitchFamily="18" charset="0"/>
                    <a:ea typeface="Yu Gothic" panose="020B0400000000000000" pitchFamily="34" charset="-128"/>
                    <a:cs typeface="Times New Roman" panose="02020603050405020304" pitchFamily="18" charset="0"/>
                  </a:rPr>
                  <a:t> using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  <m:t>𝝓</m:t>
                        </m:r>
                        <m:d>
                          <m:dPr>
                            <m:ctrlPr>
                              <a:rPr lang="en-US" sz="20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0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  <m:t>𝒍𝒏</m:t>
                            </m:r>
                            <m:d>
                              <m:dPr>
                                <m:ctrlPr>
                                  <a:rPr lang="en-US" sz="2000" b="1" i="1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Yu Gothic" panose="020B0400000000000000" pitchFamily="34" charset="-128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b="1" i="1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Yu Gothic" panose="020B0400000000000000" pitchFamily="34" charset="-128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Yu Gothic" panose="020B0400000000000000" pitchFamily="34" charset="-128"/>
                                        <a:cs typeface="Times New Roman" panose="020206030504050203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US" sz="2000" b="1" i="1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Yu Gothic" panose="020B0400000000000000" pitchFamily="34" charset="-128"/>
                                        <a:cs typeface="Times New Roman" panose="020206030504050203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20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sz="20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  <m:t>𝝀</m:t>
                            </m:r>
                          </m:e>
                        </m:d>
                      </m:num>
                      <m:den>
                        <m:r>
                          <m:rPr>
                            <m:nor/>
                          </m:rPr>
                          <a:rPr lang="el-GR" sz="2000" b="1" i="0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ea typeface="Yu Gothic" panose="020B0400000000000000" pitchFamily="34" charset="-128"/>
                            <a:cs typeface="Arial" panose="020B0604020202020204" pitchFamily="34" charset="0"/>
                          </a:rPr>
                          <m:t>ζ</m:t>
                        </m:r>
                      </m:den>
                    </m:f>
                    <m:r>
                      <m:rPr>
                        <m:nor/>
                      </m:rPr>
                      <a:rPr lang="en-US" sz="2000" b="1" i="0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Yu Gothic" panose="020B0400000000000000" pitchFamily="34" charset="-128"/>
                        <a:cs typeface="Arial" panose="020B0604020202020204" pitchFamily="34" charset="0"/>
                      </a:rPr>
                      <m:t>=</m:t>
                    </m:r>
                    <m:r>
                      <m:rPr>
                        <m:nor/>
                      </m:rPr>
                      <a:rPr lang="en-US" sz="2000" b="1" i="0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Yu Gothic" panose="020B0400000000000000" pitchFamily="34" charset="-128"/>
                        <a:cs typeface="Arial" panose="020B0604020202020204" pitchFamily="34" charset="0"/>
                      </a:rPr>
                      <m:t>P</m:t>
                    </m:r>
                    <m:r>
                      <m:rPr>
                        <m:nor/>
                      </m:rPr>
                      <a:rPr lang="en-US" sz="2000" b="1" i="0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Yu Gothic" panose="020B0400000000000000" pitchFamily="34" charset="-128"/>
                        <a:cs typeface="Arial" panose="020B0604020202020204" pitchFamily="34" charset="0"/>
                      </a:rPr>
                      <m:t>(</m:t>
                    </m:r>
                    <m:r>
                      <m:rPr>
                        <m:nor/>
                      </m:rPr>
                      <a:rPr lang="en-US" sz="2000" b="1" i="0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Yu Gothic" panose="020B0400000000000000" pitchFamily="34" charset="-128"/>
                        <a:cs typeface="Arial" panose="020B0604020202020204" pitchFamily="34" charset="0"/>
                      </a:rPr>
                      <m:t>T</m:t>
                    </m:r>
                    <m:r>
                      <a:rPr lang="en-US" sz="2000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Yu Gothic" panose="020B0400000000000000" pitchFamily="34" charset="-128"/>
                        <a:cs typeface="Arial" panose="020B0604020202020204" pitchFamily="34" charset="0"/>
                      </a:rPr>
                      <m:t>≤</m:t>
                    </m:r>
                    <m:sSub>
                      <m:sSubPr>
                        <m:ctrlPr>
                          <a:rPr lang="en-US" sz="2000" b="1" i="1" dirty="0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b="1" i="1" dirty="0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Arial" panose="020B0604020202020204" pitchFamily="34" charset="0"/>
                          </a:rPr>
                          <m:t>𝒕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Arial" panose="020B0604020202020204" pitchFamily="34" charset="0"/>
                          </a:rPr>
                          <m:t>𝟎</m:t>
                        </m:r>
                      </m:sub>
                    </m:sSub>
                    <m:r>
                      <a:rPr lang="en-US" sz="2000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Yu Gothic" panose="020B0400000000000000" pitchFamily="34" charset="-128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en-IN" sz="2000" b="1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4180BF0-8840-B2F1-A15D-14388081D3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6690" y="4089099"/>
                <a:ext cx="8025384" cy="1532984"/>
              </a:xfrm>
              <a:prstGeom prst="rect">
                <a:avLst/>
              </a:prstGeom>
              <a:blipFill>
                <a:blip r:embed="rId3"/>
                <a:stretch>
                  <a:fillRect l="-607" t="-23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8766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F16B52B-515B-FA4D-40B9-D826C4E1D83E}"/>
                  </a:ext>
                </a:extLst>
              </p:cNvPr>
              <p:cNvSpPr txBox="1"/>
              <p:nvPr/>
            </p:nvSpPr>
            <p:spPr>
              <a:xfrm>
                <a:off x="744718" y="584462"/>
                <a:ext cx="11048214" cy="38106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3) A quality control engineer monitors the variability in the diameter of steel rods produced by a manufacturing line. From a random sample of 20 rods, the sample variance of the diameters is found to be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p>
                        <m:r>
                          <a:rPr lang="ar-AE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ar-AE" sz="24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ar-AE" sz="24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𝟎𝟏𝟓</m:t>
                    </m:r>
                    <m:r>
                      <m:rPr>
                        <m:nor/>
                      </m:rPr>
                      <a:rPr lang="ar-AE" sz="2400" b="1" i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sSup>
                      <m:sSupPr>
                        <m:ctrlPr>
                          <a:rPr lang="en-I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IN" sz="2400" b="1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mm</m:t>
                        </m:r>
                      </m:e>
                      <m:sup>
                        <m:r>
                          <a:rPr lang="ar-AE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I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I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(a) State the </a:t>
                </a:r>
                <a:r>
                  <a:rPr lang="en-IN" sz="24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degrees of freedom associated </a:t>
                </a:r>
                <a:r>
                  <a:rPr lang="en-I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this problem.</a:t>
                </a:r>
              </a:p>
              <a:p>
                <a:r>
                  <a:rPr lang="en-I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(b) Construct a </a:t>
                </a:r>
                <a:r>
                  <a:rPr lang="en-IN" sz="24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90% confidence interval </a:t>
                </a:r>
                <a:r>
                  <a:rPr lang="en-I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the true population 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  <m:sup>
                        <m:r>
                          <a:rPr lang="ar-AE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l-GR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the rod diameters.</a:t>
                </a:r>
              </a:p>
              <a:p>
                <a:r>
                  <a:rPr lang="en-I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(c) The process is considered acceptable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  <m:sup>
                        <m:r>
                          <a:rPr lang="ar-AE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ar-AE" sz="24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ar-AE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ar-AE" sz="24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𝟎𝟐</m:t>
                    </m:r>
                    <m:r>
                      <m:rPr>
                        <m:nor/>
                      </m:rPr>
                      <a:rPr lang="ar-AE" sz="2400" b="1" i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sSup>
                      <m:sSupPr>
                        <m:ctrlPr>
                          <a:rPr lang="en-I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IN" sz="2400" b="1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mm</m:t>
                        </m:r>
                      </m:e>
                      <m:sup>
                        <m:r>
                          <a:rPr lang="ar-AE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I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Based on your confidence interval, comment on whether there is evidence the process variability exceeds the acceptable limit.</a:t>
                </a:r>
              </a:p>
              <a:p>
                <a:endParaRPr lang="en-IN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F16B52B-515B-FA4D-40B9-D826C4E1D8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718" y="584462"/>
                <a:ext cx="11048214" cy="3810659"/>
              </a:xfrm>
              <a:prstGeom prst="rect">
                <a:avLst/>
              </a:prstGeom>
              <a:blipFill>
                <a:blip r:embed="rId2"/>
                <a:stretch>
                  <a:fillRect l="-827" t="-1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513BD89-102A-1ADB-30C4-FB2216CBF759}"/>
                  </a:ext>
                </a:extLst>
              </p:cNvPr>
              <p:cNvSpPr txBox="1"/>
              <p:nvPr/>
            </p:nvSpPr>
            <p:spPr>
              <a:xfrm>
                <a:off x="2459826" y="4287436"/>
                <a:ext cx="8025384" cy="22521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lphaLcPeriod"/>
                </a:pPr>
                <a:r>
                  <a:rPr lang="en-US" sz="2000" b="1" dirty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dof = n-1</a:t>
                </a:r>
              </a:p>
              <a:p>
                <a:pPr marL="342900" indent="-342900">
                  <a:buAutoNum type="alphaLcPeriod"/>
                </a:pPr>
                <a:r>
                  <a:rPr lang="en-US" sz="2000" b="1" dirty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pitchFamily="18" charset="0"/>
                    <a:ea typeface="Yu Gothic" panose="020B0400000000000000" pitchFamily="34" charset="-128"/>
                    <a:cs typeface="Times New Roman" panose="02020603050405020304" pitchFamily="18" charset="0"/>
                  </a:rPr>
                  <a:t>For 90% CI, split the remaining 10% equality into both tails (5% each, needing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  <m:t>𝝌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  <m:t>𝟎</m:t>
                        </m:r>
                        <m: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  <m:t>.</m:t>
                        </m:r>
                        <m: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  <m:t>𝟎</m:t>
                        </m:r>
                        <m: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  <m:t>𝟓</m:t>
                        </m:r>
                        <m: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  <m:t>𝟏𝟗</m:t>
                        </m:r>
                      </m:sub>
                      <m:sup>
                        <m: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bSup>
                  </m:oMath>
                </a14:m>
                <a:r>
                  <a:rPr lang="en-US" sz="2000" b="1" dirty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pitchFamily="18" charset="0"/>
                    <a:ea typeface="Yu Gothic" panose="020B0400000000000000" pitchFamily="34" charset="-128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  <m:t>𝝌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  <m:t>𝟎</m:t>
                        </m:r>
                        <m: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  <m:t>.</m:t>
                        </m:r>
                        <m: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  <m:t>𝟗𝟓</m:t>
                        </m:r>
                        <m:r>
                          <a:rPr lang="en-US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  <m:t>𝟏𝟗</m:t>
                        </m:r>
                      </m:sub>
                      <m:sup>
                        <m:r>
                          <a:rPr lang="en-US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bSup>
                  </m:oMath>
                </a14:m>
                <a:r>
                  <a:rPr lang="en-US" sz="2000" b="1" dirty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pitchFamily="18" charset="0"/>
                    <a:ea typeface="Yu Gothic" panose="020B0400000000000000" pitchFamily="34" charset="-128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US" sz="2000" b="1" dirty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pitchFamily="18" charset="0"/>
                    <a:ea typeface="Yu Gothic" panose="020B0400000000000000" pitchFamily="34" charset="-128"/>
                    <a:cs typeface="Times New Roman" panose="02020603050405020304" pitchFamily="18" charset="0"/>
                  </a:rPr>
                  <a:t>     CI formula for Variance:</a:t>
                </a:r>
              </a:p>
              <a:p>
                <a:r>
                  <a:rPr lang="en-US" sz="2000" b="1" dirty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pitchFamily="18" charset="0"/>
                    <a:ea typeface="Yu Gothic" panose="020B0400000000000000" pitchFamily="34" charset="-128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20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0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  <m:t>𝒏</m:t>
                            </m:r>
                            <m:r>
                              <a:rPr lang="en-US" sz="20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sz="20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e>
                        </m:d>
                        <m:sSup>
                          <m:sSupPr>
                            <m:ctrlPr>
                              <a:rPr lang="en-US" sz="20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  <m:t>𝒔</m:t>
                            </m:r>
                          </m:e>
                          <m:sup>
                            <m:r>
                              <a:rPr lang="en-US" sz="20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sSubSup>
                          <m:sSubSupPr>
                            <m:ctrlPr>
                              <a:rPr lang="en-US" sz="20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  <m:t>𝝌</m:t>
                            </m:r>
                          </m:e>
                          <m:sub>
                            <m:r>
                              <a:rPr lang="en-US" sz="20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  <m:t>𝟎</m:t>
                            </m:r>
                            <m:r>
                              <a:rPr lang="en-US" sz="20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  <m:t>.</m:t>
                            </m:r>
                            <m:r>
                              <a:rPr lang="en-US" sz="20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  <m:t>𝟎</m:t>
                            </m:r>
                            <m:r>
                              <a:rPr lang="en-US" sz="20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  <m:t>𝟓</m:t>
                            </m:r>
                            <m:r>
                              <a:rPr lang="en-US" sz="20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sz="20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  <m:t>𝟏𝟗</m:t>
                            </m:r>
                          </m:sub>
                          <m:sup>
                            <m:r>
                              <a:rPr lang="en-US" sz="20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p>
                        </m:sSubSup>
                      </m:den>
                    </m:f>
                    <m:r>
                      <a:rPr lang="en-US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Yu Gothic" panose="020B0400000000000000" pitchFamily="34" charset="-128"/>
                        <a:cs typeface="Times New Roman" panose="02020603050405020304" pitchFamily="18" charset="0"/>
                      </a:rPr>
                      <m:t>≤</m:t>
                    </m:r>
                    <m:sSup>
                      <m:sSupPr>
                        <m:ctrlP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  <m:t>𝝈</m:t>
                        </m:r>
                      </m:e>
                      <m:sup>
                        <m: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  <m:r>
                      <a:rPr lang="en-US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Yu Gothic" panose="020B0400000000000000" pitchFamily="34" charset="-128"/>
                        <a:cs typeface="Times New Roman" panose="02020603050405020304" pitchFamily="18" charset="0"/>
                      </a:rPr>
                      <m:t>≤ </m:t>
                    </m:r>
                    <m:f>
                      <m:fPr>
                        <m:ctrlPr>
                          <a:rPr lang="en-US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20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0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  <m:t>𝒏</m:t>
                            </m:r>
                            <m:r>
                              <a:rPr lang="en-US" sz="20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sz="20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e>
                        </m:d>
                        <m:sSup>
                          <m:sSupPr>
                            <m:ctrlPr>
                              <a:rPr lang="en-US" sz="20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  <m:t>𝒔</m:t>
                            </m:r>
                          </m:e>
                          <m:sup>
                            <m:r>
                              <a:rPr lang="en-US" sz="20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sSubSup>
                          <m:sSubSupPr>
                            <m:ctrlPr>
                              <a:rPr lang="en-US" sz="20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  <m:t>𝝌</m:t>
                            </m:r>
                          </m:e>
                          <m:sub>
                            <m:r>
                              <a:rPr lang="en-US" sz="20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  <m:t>𝟎</m:t>
                            </m:r>
                            <m:r>
                              <a:rPr lang="en-US" sz="20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  <m:t>.</m:t>
                            </m:r>
                            <m:r>
                              <a:rPr lang="en-US" sz="20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  <m:t>𝟗𝟓</m:t>
                            </m:r>
                            <m:r>
                              <a:rPr lang="en-US" sz="20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sz="20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  <m:t>𝟏𝟗</m:t>
                            </m:r>
                          </m:sub>
                          <m:sup>
                            <m:r>
                              <a:rPr lang="en-US" sz="20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p>
                        </m:sSubSup>
                      </m:den>
                    </m:f>
                  </m:oMath>
                </a14:m>
                <a:endParaRPr lang="en-US" sz="2000" b="1" dirty="0">
                  <a:solidFill>
                    <a:schemeClr val="accent6">
                      <a:lumMod val="50000"/>
                    </a:schemeClr>
                  </a:solidFill>
                  <a:latin typeface="Times New Roman" panose="02020603050405020304" pitchFamily="18" charset="0"/>
                  <a:ea typeface="Yu Gothic" panose="020B0400000000000000" pitchFamily="34" charset="-128"/>
                  <a:cs typeface="Times New Roman" panose="02020603050405020304" pitchFamily="18" charset="0"/>
                </a:endParaRPr>
              </a:p>
              <a:p>
                <a:r>
                  <a:rPr lang="en-IN" sz="2000" b="1" dirty="0">
                    <a:solidFill>
                      <a:schemeClr val="accent6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c. See the acceptable limit falls inside or outside the CI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513BD89-102A-1ADB-30C4-FB2216CBF7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9826" y="4287436"/>
                <a:ext cx="8025384" cy="2252155"/>
              </a:xfrm>
              <a:prstGeom prst="rect">
                <a:avLst/>
              </a:prstGeom>
              <a:blipFill>
                <a:blip r:embed="rId3"/>
                <a:stretch>
                  <a:fillRect l="-836" t="-1351" b="-37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3126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9DDBBC-CAF3-F6B1-1CAF-FD352051818C}"/>
              </a:ext>
            </a:extLst>
          </p:cNvPr>
          <p:cNvSpPr txBox="1"/>
          <p:nvPr/>
        </p:nvSpPr>
        <p:spPr>
          <a:xfrm>
            <a:off x="471340" y="367645"/>
            <a:ext cx="11255604" cy="2439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buNone/>
            </a:pPr>
            <a:r>
              <a:rPr lang="en-IN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4) Suppose that the building code for the design of buildings in a coastal region specifies the 50-year wind as the "design wind"; that is, a wind velocity with </a:t>
            </a:r>
            <a:r>
              <a:rPr lang="en-IN" sz="20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return period of 50 years.</a:t>
            </a:r>
          </a:p>
          <a:p>
            <a:pPr>
              <a:spcAft>
                <a:spcPts val="500"/>
              </a:spcAft>
              <a:buNone/>
            </a:pPr>
            <a:r>
              <a:rPr lang="en-IN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(a) Determine the probability of encountering the 50-year wind velocity in any 1 year.</a:t>
            </a:r>
          </a:p>
          <a:p>
            <a:pPr>
              <a:spcAft>
                <a:spcPts val="500"/>
              </a:spcAft>
              <a:buNone/>
            </a:pPr>
            <a:r>
              <a:rPr lang="en-IN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(b) Determine the probability that a newly completed building in the region will be subjected to the design wind velocity </a:t>
            </a:r>
            <a:r>
              <a:rPr lang="en-IN" sz="20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 the first time on the fifth year after its completion</a:t>
            </a:r>
            <a:r>
              <a:rPr lang="en-IN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>
              <a:spcAft>
                <a:spcPts val="500"/>
              </a:spcAft>
              <a:buNone/>
            </a:pPr>
            <a:r>
              <a:rPr lang="en-IN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(c) Determine the probability that the first such wind velocity will occur within 5 years after completion of the building.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B37F5D9-DB93-36E9-6752-8B1408360DB0}"/>
                  </a:ext>
                </a:extLst>
              </p:cNvPr>
              <p:cNvSpPr txBox="1"/>
              <p:nvPr/>
            </p:nvSpPr>
            <p:spPr>
              <a:xfrm>
                <a:off x="2459826" y="4287436"/>
                <a:ext cx="8025384" cy="1054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lphaLcPeriod"/>
                </a:pPr>
                <a:r>
                  <a:rPr lang="en-US" sz="2000" b="1" dirty="0">
                    <a:solidFill>
                      <a:schemeClr val="accent6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P=1/return period</a:t>
                </a:r>
              </a:p>
              <a:p>
                <a:pPr marL="342900" indent="-342900">
                  <a:buAutoNum type="alphaLcPeriod"/>
                </a:pPr>
                <a:r>
                  <a:rPr lang="en-IN" sz="2000" b="1" dirty="0">
                    <a:solidFill>
                      <a:schemeClr val="accent6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P(T=5) =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𝒑</m:t>
                    </m:r>
                    <m:sSup>
                      <m:sSupPr>
                        <m:ctrlPr>
                          <a:rPr lang="en-US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𝒒</m:t>
                        </m:r>
                      </m:e>
                      <m:sup>
                        <m: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𝟓</m:t>
                        </m:r>
                        <m:r>
                          <a:rPr lang="en-US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n-US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sup>
                    </m:sSup>
                  </m:oMath>
                </a14:m>
                <a:endParaRPr lang="en-IN" sz="2000" b="1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AutoNum type="alphaLcPeriod"/>
                </a:pPr>
                <a:r>
                  <a:rPr lang="en-IN" sz="2000" b="1" dirty="0">
                    <a:solidFill>
                      <a:schemeClr val="accent6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P(T&lt;=5)=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>
                        <m: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𝒕</m:t>
                        </m:r>
                        <m: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</m:t>
                        </m:r>
                        <m: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sub>
                      <m:sup>
                        <m: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𝟓</m:t>
                        </m:r>
                      </m:sup>
                      <m:e>
                        <m: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𝒑</m:t>
                        </m:r>
                        <m:sSup>
                          <m:sSupPr>
                            <m:ctrlPr>
                              <a:rPr lang="en-US" sz="20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sz="20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𝒒</m:t>
                            </m:r>
                          </m:e>
                          <m:sup>
                            <m:r>
                              <a:rPr lang="en-US" sz="20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𝒕</m:t>
                            </m:r>
                            <m:r>
                              <a:rPr lang="en-US" sz="20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r>
                              <a:rPr lang="en-US" sz="20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𝟏</m:t>
                            </m:r>
                          </m:sup>
                        </m:sSup>
                      </m:e>
                    </m:nary>
                  </m:oMath>
                </a14:m>
                <a:endParaRPr lang="en-IN" sz="2000" b="1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B37F5D9-DB93-36E9-6752-8B1408360D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9826" y="4287436"/>
                <a:ext cx="8025384" cy="1054584"/>
              </a:xfrm>
              <a:prstGeom prst="rect">
                <a:avLst/>
              </a:prstGeom>
              <a:blipFill>
                <a:blip r:embed="rId2"/>
                <a:stretch>
                  <a:fillRect l="-684" t="-2312" b="-6936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54176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1305</TotalTime>
  <Words>530</Words>
  <Application>Microsoft Office PowerPoint</Application>
  <PresentationFormat>Widescreen</PresentationFormat>
  <Paragraphs>38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Times New Roman</vt:lpstr>
      <vt:lpstr>Office Theme</vt:lpstr>
      <vt:lpstr>Tutorial - 4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Tulasi Kammula</dc:creator>
  <cp:lastModifiedBy>Prakash Singh</cp:lastModifiedBy>
  <cp:revision>15</cp:revision>
  <dcterms:created xsi:type="dcterms:W3CDTF">2026-08-23T05:48:23Z</dcterms:created>
  <dcterms:modified xsi:type="dcterms:W3CDTF">2026-08-27T02:36:20Z</dcterms:modified>
</cp:coreProperties>
</file>